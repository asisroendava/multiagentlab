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3413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188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MultiAgentLab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60A5FA"/>
                </a:solidFill>
              </a:defRPr>
            </a:pPr>
            <a:r>
              <a:t>Revisión de User Stories con Agentes de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Javier Calero  ·  Ariel Sisro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Presentación técnica  ·  Mayo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Endava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</a:defRPr>
            </a:pPr>
            <a:r>
              <a:rPr dirty="0" err="1"/>
              <a:t>Conceptos</a:t>
            </a:r>
            <a:r>
              <a:rPr dirty="0"/>
              <a:t> </a:t>
            </a:r>
            <a:r>
              <a:rPr dirty="0" err="1"/>
              <a:t>Teóricos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600" b="0">
                <a:solidFill>
                  <a:srgbClr val="E2E8F0"/>
                </a:solidFill>
              </a:defRPr>
            </a:pPr>
            <a:r>
              <a:rPr dirty="0"/>
              <a:t>•  ¿</a:t>
            </a:r>
            <a:r>
              <a:rPr dirty="0" err="1"/>
              <a:t>Qué</a:t>
            </a:r>
            <a:r>
              <a:rPr dirty="0"/>
              <a:t> es un </a:t>
            </a:r>
            <a:r>
              <a:rPr dirty="0" err="1"/>
              <a:t>sistema</a:t>
            </a:r>
            <a:r>
              <a:rPr dirty="0"/>
              <a:t> multi-</a:t>
            </a:r>
            <a:r>
              <a:rPr dirty="0" err="1"/>
              <a:t>agente</a:t>
            </a:r>
            <a:r>
              <a:rPr dirty="0"/>
              <a:t>?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rPr dirty="0"/>
              <a:t>•  </a:t>
            </a:r>
            <a:r>
              <a:rPr dirty="0" err="1"/>
              <a:t>Agente</a:t>
            </a:r>
            <a:r>
              <a:rPr dirty="0"/>
              <a:t> </a:t>
            </a:r>
            <a:r>
              <a:rPr dirty="0" err="1"/>
              <a:t>único</a:t>
            </a:r>
            <a:r>
              <a:rPr dirty="0"/>
              <a:t> vs multi-</a:t>
            </a:r>
            <a:r>
              <a:rPr dirty="0" err="1"/>
              <a:t>agente</a:t>
            </a:r>
            <a:endParaRPr dirty="0"/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rPr dirty="0"/>
              <a:t>•  </a:t>
            </a:r>
            <a:r>
              <a:rPr dirty="0" err="1"/>
              <a:t>Patrones</a:t>
            </a:r>
            <a:r>
              <a:rPr dirty="0"/>
              <a:t> de </a:t>
            </a:r>
            <a:r>
              <a:rPr dirty="0" err="1"/>
              <a:t>orquestación</a:t>
            </a:r>
            <a:endParaRPr dirty="0"/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rPr dirty="0"/>
              <a:t>•  El </a:t>
            </a:r>
            <a:r>
              <a:rPr dirty="0" err="1"/>
              <a:t>patrón</a:t>
            </a:r>
            <a:r>
              <a:rPr dirty="0"/>
              <a:t> Supervisor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rPr dirty="0"/>
              <a:t>•  LLMs </a:t>
            </a:r>
            <a:r>
              <a:rPr dirty="0" err="1"/>
              <a:t>como</a:t>
            </a:r>
            <a:r>
              <a:rPr dirty="0"/>
              <a:t> motor de </a:t>
            </a:r>
            <a:r>
              <a:rPr dirty="0" err="1"/>
              <a:t>razonamiento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400800" y="1371600"/>
            <a:ext cx="5029200" cy="475488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rPr dirty="0" err="1"/>
              <a:t>Implementación</a:t>
            </a:r>
            <a:r>
              <a:rPr dirty="0"/>
              <a:t>: </a:t>
            </a:r>
            <a:r>
              <a:rPr dirty="0" err="1"/>
              <a:t>MultiAgentLab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6675120" y="201168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600" b="0">
                <a:solidFill>
                  <a:srgbClr val="E2E8F0"/>
                </a:solidFill>
              </a:defRPr>
            </a:pPr>
            <a:r>
              <a:rPr dirty="0"/>
              <a:t>•  El </a:t>
            </a:r>
            <a:r>
              <a:rPr dirty="0" err="1"/>
              <a:t>problema</a:t>
            </a:r>
            <a:r>
              <a:rPr dirty="0"/>
              <a:t> y la </a:t>
            </a:r>
            <a:r>
              <a:rPr dirty="0" err="1"/>
              <a:t>pregunta</a:t>
            </a:r>
            <a:r>
              <a:rPr dirty="0"/>
              <a:t> del POC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rPr dirty="0"/>
              <a:t>•  La </a:t>
            </a:r>
            <a:r>
              <a:rPr dirty="0" err="1"/>
              <a:t>arquitectura</a:t>
            </a:r>
            <a:r>
              <a:rPr dirty="0"/>
              <a:t> y </a:t>
            </a:r>
            <a:r>
              <a:rPr dirty="0" err="1"/>
              <a:t>flujo</a:t>
            </a:r>
            <a:r>
              <a:rPr dirty="0"/>
              <a:t> paso a paso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rPr dirty="0"/>
              <a:t>•  </a:t>
            </a:r>
            <a:r>
              <a:rPr dirty="0" err="1"/>
              <a:t>Agentes</a:t>
            </a:r>
            <a:r>
              <a:rPr dirty="0"/>
              <a:t> </a:t>
            </a:r>
            <a:r>
              <a:rPr dirty="0" err="1"/>
              <a:t>especializados</a:t>
            </a:r>
            <a:r>
              <a:rPr dirty="0"/>
              <a:t> y </a:t>
            </a:r>
            <a:r>
              <a:rPr dirty="0" err="1"/>
              <a:t>selección</a:t>
            </a:r>
            <a:r>
              <a:rPr dirty="0"/>
              <a:t> </a:t>
            </a:r>
            <a:r>
              <a:rPr dirty="0" err="1"/>
              <a:t>dinámica</a:t>
            </a:r>
            <a:endParaRPr dirty="0"/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rPr dirty="0"/>
              <a:t>•  </a:t>
            </a:r>
            <a:r>
              <a:rPr dirty="0" err="1"/>
              <a:t>Decisiones</a:t>
            </a:r>
            <a:r>
              <a:rPr dirty="0"/>
              <a:t> </a:t>
            </a:r>
            <a:r>
              <a:rPr dirty="0" err="1"/>
              <a:t>técnicas</a:t>
            </a:r>
            <a:r>
              <a:rPr dirty="0"/>
              <a:t> clave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rPr dirty="0"/>
              <a:t>•  Lo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aprendimos</a:t>
            </a:r>
            <a:endParaRPr dirty="0"/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rPr dirty="0"/>
              <a:t>•  Demo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rPr dirty="0"/>
              <a:t>•  </a:t>
            </a:r>
            <a:r>
              <a:rPr dirty="0" err="1"/>
              <a:t>Resumen</a:t>
            </a:r>
            <a:r>
              <a:rPr dirty="0"/>
              <a:t> y stack </a:t>
            </a:r>
            <a:r>
              <a:rPr dirty="0" err="1"/>
              <a:t>técnico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PARTE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Conceptos Teóricos sobre Sistemas Multi-Agente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63240"/>
            <a:ext cx="210312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¿Qué es un Sistema Multi-Agente?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2E8F0"/>
                </a:solidFill>
              </a:defRPr>
            </a:pPr>
            <a:r>
              <a:rPr dirty="0"/>
              <a:t>Un Sistema Multi-</a:t>
            </a:r>
            <a:r>
              <a:rPr dirty="0" err="1"/>
              <a:t>Agente</a:t>
            </a:r>
            <a:r>
              <a:rPr dirty="0"/>
              <a:t> es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arquitectura</a:t>
            </a:r>
            <a:r>
              <a:rPr dirty="0"/>
              <a:t> </a:t>
            </a:r>
            <a:r>
              <a:rPr dirty="0" err="1"/>
              <a:t>donde</a:t>
            </a:r>
            <a:r>
              <a:rPr dirty="0"/>
              <a:t> </a:t>
            </a:r>
            <a:r>
              <a:rPr dirty="0" err="1"/>
              <a:t>múltiples</a:t>
            </a:r>
            <a:r>
              <a:rPr dirty="0"/>
              <a:t> </a:t>
            </a:r>
            <a:r>
              <a:rPr dirty="0" err="1"/>
              <a:t>entidades</a:t>
            </a:r>
            <a:r>
              <a:rPr dirty="0"/>
              <a:t> </a:t>
            </a:r>
            <a:r>
              <a:rPr dirty="0" err="1"/>
              <a:t>autónomas</a:t>
            </a:r>
            <a:r>
              <a:rPr dirty="0"/>
              <a:t> y </a:t>
            </a:r>
            <a:r>
              <a:rPr dirty="0" err="1"/>
              <a:t>especializadas</a:t>
            </a:r>
            <a:r>
              <a:rPr dirty="0"/>
              <a:t> — </a:t>
            </a:r>
            <a:r>
              <a:rPr dirty="0" err="1"/>
              <a:t>llamadas</a:t>
            </a:r>
            <a:r>
              <a:rPr dirty="0"/>
              <a:t> </a:t>
            </a:r>
            <a:r>
              <a:rPr dirty="0" err="1"/>
              <a:t>agentes</a:t>
            </a:r>
            <a:r>
              <a:rPr dirty="0"/>
              <a:t> — </a:t>
            </a:r>
            <a:r>
              <a:rPr dirty="0" err="1"/>
              <a:t>colaboran</a:t>
            </a:r>
            <a:r>
              <a:rPr dirty="0"/>
              <a:t> para resolver un </a:t>
            </a:r>
            <a:r>
              <a:rPr dirty="0" err="1"/>
              <a:t>problema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allá</a:t>
            </a:r>
            <a:r>
              <a:rPr dirty="0"/>
              <a:t> de la </a:t>
            </a:r>
            <a:r>
              <a:rPr dirty="0" err="1"/>
              <a:t>capacidad</a:t>
            </a:r>
            <a:r>
              <a:rPr dirty="0"/>
              <a:t> de un solo </a:t>
            </a:r>
            <a:r>
              <a:rPr dirty="0" err="1"/>
              <a:t>agente</a:t>
            </a:r>
            <a:r>
              <a:rPr dirty="0"/>
              <a:t> </a:t>
            </a:r>
            <a:r>
              <a:rPr dirty="0" err="1"/>
              <a:t>trabajando</a:t>
            </a:r>
            <a:r>
              <a:rPr dirty="0"/>
              <a:t> </a:t>
            </a:r>
            <a:r>
              <a:rPr dirty="0" err="1"/>
              <a:t>individualmente</a:t>
            </a:r>
            <a:r>
              <a:rPr dirty="0"/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743200"/>
            <a:ext cx="2560320" cy="25603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256032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0A5FA"/>
                </a:solidFill>
              </a:defRPr>
            </a:pPr>
            <a:r>
              <a:t>Percepción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9184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Recibe datos de entrada:</a:t>
            </a:r>
            <a:br/>
            <a:r>
              <a:t>texto, contexto, estado</a:t>
            </a:r>
            <a:br/>
            <a:r>
              <a:t>del entorno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743200"/>
            <a:ext cx="2560320" cy="25603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0" y="2743200"/>
            <a:ext cx="256032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</a:defRPr>
            </a:pPr>
            <a:r>
              <a:t>Razonamiento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29184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Procesa la entrada usando</a:t>
            </a:r>
            <a:br/>
            <a:r>
              <a:t>su expertise — típicamente</a:t>
            </a:r>
            <a:br/>
            <a:r>
              <a:t>un LLM con un system prompt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43200"/>
            <a:ext cx="2560320" cy="25603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00800" y="2743200"/>
            <a:ext cx="256032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</a:defRPr>
            </a:pPr>
            <a:r>
              <a:t>Acción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29184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Produce una salida:</a:t>
            </a:r>
            <a:br/>
            <a:r>
              <a:t>datos estructurados,</a:t>
            </a:r>
            <a:br/>
            <a:r>
              <a:t>decisiones o efectos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2743200"/>
            <a:ext cx="2560320" cy="25603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326880" y="2743200"/>
            <a:ext cx="256032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6404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</a:defRPr>
            </a:pPr>
            <a:r>
              <a:t>Autonomía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3291840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Decide cómo actuar sin</a:t>
            </a:r>
            <a:br/>
            <a:r>
              <a:t>instrucciones paso a paso</a:t>
            </a:r>
            <a:br/>
            <a:r>
              <a:t>de un controlador central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rPr dirty="0"/>
              <a:t>En </a:t>
            </a:r>
            <a:r>
              <a:rPr dirty="0" err="1"/>
              <a:t>sistemas</a:t>
            </a:r>
            <a:r>
              <a:rPr dirty="0"/>
              <a:t> </a:t>
            </a:r>
            <a:r>
              <a:rPr dirty="0" err="1"/>
              <a:t>basados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LLM,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agente</a:t>
            </a:r>
            <a:r>
              <a:rPr dirty="0"/>
              <a:t> </a:t>
            </a:r>
            <a:r>
              <a:rPr dirty="0" err="1"/>
              <a:t>envuelve</a:t>
            </a:r>
            <a:r>
              <a:rPr dirty="0"/>
              <a:t> un </a:t>
            </a:r>
            <a:r>
              <a:rPr dirty="0" err="1"/>
              <a:t>modelo</a:t>
            </a:r>
            <a:r>
              <a:rPr dirty="0"/>
              <a:t> de </a:t>
            </a:r>
            <a:r>
              <a:rPr dirty="0" err="1"/>
              <a:t>lenguaje</a:t>
            </a:r>
            <a:r>
              <a:rPr dirty="0"/>
              <a:t> con un </a:t>
            </a:r>
            <a:r>
              <a:rPr dirty="0" err="1"/>
              <a:t>rol</a:t>
            </a:r>
            <a:r>
              <a:rPr dirty="0"/>
              <a:t> </a:t>
            </a:r>
            <a:r>
              <a:rPr dirty="0" err="1"/>
              <a:t>definido</a:t>
            </a:r>
            <a:r>
              <a:rPr dirty="0"/>
              <a:t>, </a:t>
            </a:r>
            <a:r>
              <a:rPr dirty="0" err="1"/>
              <a:t>instrucciones</a:t>
            </a:r>
            <a:r>
              <a:rPr dirty="0"/>
              <a:t> </a:t>
            </a:r>
            <a:r>
              <a:rPr dirty="0" err="1"/>
              <a:t>específicas</a:t>
            </a:r>
            <a:r>
              <a:rPr dirty="0"/>
              <a:t> y un </a:t>
            </a:r>
            <a:r>
              <a:rPr dirty="0" err="1"/>
              <a:t>formato</a:t>
            </a:r>
            <a:r>
              <a:rPr dirty="0"/>
              <a:t> de </a:t>
            </a:r>
            <a:r>
              <a:rPr dirty="0" err="1"/>
              <a:t>salida</a:t>
            </a:r>
            <a:r>
              <a:rPr dirty="0"/>
              <a:t> </a:t>
            </a:r>
            <a:r>
              <a:rPr dirty="0" err="1"/>
              <a:t>estructurado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Agente Único vs Multi-Agente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¿Por qué no usar un solo modelo grande?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029200" cy="45720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7171"/>
                </a:solidFill>
              </a:defRPr>
            </a:pPr>
            <a:r>
              <a:t>Un Solo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400" b="0">
                <a:solidFill>
                  <a:srgbClr val="E2E8F0"/>
                </a:solidFill>
              </a:defRPr>
            </a:pPr>
            <a:r>
              <a:t>•  Las preocupaciones se mezclan en una sola respuesta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•  Imposible rastrear qué perspectiva levantó qué hallazgo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•  No se puede invocar selectivamente solo lo relevante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•  Salida monolítica — difícil de puntuar o agregar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•  Ventana de contexto se satura rápidamente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•  Punto único de falla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554480"/>
            <a:ext cx="5029200" cy="45720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4D399"/>
                </a:solidFill>
              </a:defRPr>
            </a:pPr>
            <a:r>
              <a:t>Multi-Agente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400" b="0">
                <a:solidFill>
                  <a:srgbClr val="E2E8F0"/>
                </a:solidFill>
              </a:defRPr>
            </a:pPr>
            <a:r>
              <a:rPr dirty="0"/>
              <a:t>•  Cada </a:t>
            </a:r>
            <a:r>
              <a:rPr dirty="0" err="1"/>
              <a:t>perspectiva</a:t>
            </a:r>
            <a:r>
              <a:rPr dirty="0"/>
              <a:t>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propio</a:t>
            </a:r>
            <a:r>
              <a:rPr dirty="0"/>
              <a:t> </a:t>
            </a:r>
            <a:r>
              <a:rPr dirty="0" err="1"/>
              <a:t>contexto</a:t>
            </a:r>
            <a:r>
              <a:rPr dirty="0"/>
              <a:t> de </a:t>
            </a:r>
            <a:r>
              <a:rPr dirty="0" err="1"/>
              <a:t>razonamiento</a:t>
            </a:r>
            <a:endParaRPr dirty="0"/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rPr dirty="0"/>
              <a:t>•  </a:t>
            </a:r>
            <a:r>
              <a:rPr dirty="0" err="1"/>
              <a:t>Resultados</a:t>
            </a:r>
            <a:r>
              <a:rPr dirty="0"/>
              <a:t> </a:t>
            </a:r>
            <a:r>
              <a:rPr dirty="0" err="1"/>
              <a:t>trazables</a:t>
            </a:r>
            <a:r>
              <a:rPr dirty="0"/>
              <a:t>: </a:t>
            </a:r>
            <a:r>
              <a:rPr dirty="0" err="1"/>
              <a:t>quién</a:t>
            </a:r>
            <a:r>
              <a:rPr dirty="0"/>
              <a:t> </a:t>
            </a:r>
            <a:r>
              <a:rPr dirty="0" err="1"/>
              <a:t>dijo</a:t>
            </a:r>
            <a:r>
              <a:rPr dirty="0"/>
              <a:t> </a:t>
            </a:r>
            <a:r>
              <a:rPr dirty="0" err="1"/>
              <a:t>qué</a:t>
            </a:r>
            <a:r>
              <a:rPr dirty="0"/>
              <a:t> y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qué</a:t>
            </a:r>
            <a:endParaRPr dirty="0"/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rPr dirty="0"/>
              <a:t>•  </a:t>
            </a:r>
            <a:r>
              <a:rPr dirty="0" err="1"/>
              <a:t>Invocación</a:t>
            </a:r>
            <a:r>
              <a:rPr dirty="0"/>
              <a:t> </a:t>
            </a:r>
            <a:r>
              <a:rPr dirty="0" err="1"/>
              <a:t>selectiva</a:t>
            </a:r>
            <a:r>
              <a:rPr dirty="0"/>
              <a:t> — solo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agentes</a:t>
            </a:r>
            <a:r>
              <a:rPr dirty="0"/>
              <a:t> </a:t>
            </a:r>
            <a:r>
              <a:rPr dirty="0" err="1"/>
              <a:t>relevantes</a:t>
            </a:r>
            <a:endParaRPr dirty="0"/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rPr dirty="0"/>
              <a:t>•  Salida </a:t>
            </a:r>
            <a:r>
              <a:rPr dirty="0" err="1"/>
              <a:t>estructurada</a:t>
            </a:r>
            <a:r>
              <a:rPr dirty="0"/>
              <a:t> y </a:t>
            </a:r>
            <a:r>
              <a:rPr dirty="0" err="1"/>
              <a:t>agregable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agente</a:t>
            </a:r>
            <a:endParaRPr dirty="0"/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rPr dirty="0"/>
              <a:t>•  </a:t>
            </a:r>
            <a:r>
              <a:rPr dirty="0" err="1"/>
              <a:t>Ejecución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paralelo</a:t>
            </a:r>
            <a:r>
              <a:rPr dirty="0"/>
              <a:t> reduce la </a:t>
            </a:r>
            <a:r>
              <a:rPr dirty="0" err="1"/>
              <a:t>latencia</a:t>
            </a:r>
            <a:endParaRPr dirty="0"/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rPr dirty="0"/>
              <a:t>•  </a:t>
            </a:r>
            <a:r>
              <a:rPr dirty="0" err="1"/>
              <a:t>Degradación</a:t>
            </a:r>
            <a:r>
              <a:rPr dirty="0"/>
              <a:t> graceful ante </a:t>
            </a:r>
            <a:r>
              <a:rPr dirty="0" err="1"/>
              <a:t>fallos</a:t>
            </a:r>
            <a:r>
              <a:rPr dirty="0"/>
              <a:t> </a:t>
            </a:r>
            <a:r>
              <a:rPr dirty="0" err="1"/>
              <a:t>individuales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Patrones de Orquestación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Cómo se coordinan los agentes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2651760" cy="45720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265176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0A5FA"/>
                </a:solidFill>
              </a:defRPr>
            </a:pPr>
            <a:r>
              <a:t>Supervisor /</a:t>
            </a:r>
            <a:br/>
            <a:r>
              <a:t>Orquestador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2377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Un coordinador central</a:t>
            </a:r>
            <a:br/>
            <a:r>
              <a:t>selecciona, despacha y</a:t>
            </a:r>
            <a:br/>
            <a:r>
              <a:t>agrega el trabajo.</a:t>
            </a:r>
            <a:br/>
            <a:br/>
            <a:r>
              <a:t>✅ Determinístico</a:t>
            </a:r>
            <a:br/>
            <a:r>
              <a:t>✅ Observable</a:t>
            </a:r>
            <a:br/>
            <a:r>
              <a:t>✅ Fácil de depurar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554480"/>
            <a:ext cx="2651760" cy="45720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91840" y="1554480"/>
            <a:ext cx="265176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1828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</a:defRPr>
            </a:pPr>
            <a:r>
              <a:t>Peer-to-Peer /</a:t>
            </a:r>
            <a:br/>
            <a:r>
              <a:t>Colaborativo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468880"/>
            <a:ext cx="2377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Los agentes se comunican</a:t>
            </a:r>
            <a:br/>
            <a:r>
              <a:t>directamente entre sí,</a:t>
            </a:r>
            <a:br/>
            <a:r>
              <a:t>negociando resultados.</a:t>
            </a:r>
            <a:br/>
            <a:br/>
            <a:r>
              <a:t>✅ Flexible</a:t>
            </a:r>
            <a:br/>
            <a:r>
              <a:t>✅ Comportamiento emergente</a:t>
            </a:r>
            <a:br/>
            <a:br/>
            <a:r>
              <a:t>⚠ Difícil de rastrear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54480"/>
            <a:ext cx="2651760" cy="45720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1554480"/>
            <a:ext cx="265176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</a:defRPr>
            </a:pPr>
            <a:r>
              <a:t>Blackboard</a:t>
            </a:r>
            <a:br/>
            <a:r>
              <a:t>(Pizarra)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468880"/>
            <a:ext cx="2377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Los agentes leen/escriben</a:t>
            </a:r>
            <a:br/>
            <a:r>
              <a:t>en una base de conocimiento</a:t>
            </a:r>
            <a:br/>
            <a:r>
              <a:t>compartida.</a:t>
            </a:r>
            <a:br/>
            <a:br/>
            <a:r>
              <a:t>✅ Agentes desacoplados</a:t>
            </a:r>
            <a:br/>
            <a:r>
              <a:t>✅ Amigable con async</a:t>
            </a:r>
            <a:br/>
            <a:br/>
            <a:r>
              <a:t>⚠ Contención y orden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554480"/>
            <a:ext cx="2651760" cy="45720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144000" y="1554480"/>
            <a:ext cx="265176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81160" y="18288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</a:defRPr>
            </a:pPr>
            <a:r>
              <a:t>Jerárquico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2468880"/>
            <a:ext cx="23774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Múltiples niveles de</a:t>
            </a:r>
            <a:br/>
            <a:r>
              <a:t>supervisores. El nivel</a:t>
            </a:r>
            <a:br/>
            <a:r>
              <a:t>superior descompone.</a:t>
            </a:r>
            <a:br/>
            <a:br/>
            <a:r>
              <a:t>✅ Escala a complejidad</a:t>
            </a:r>
            <a:br/>
            <a:r>
              <a:t>✅ Divide y vencerás</a:t>
            </a:r>
            <a:br/>
            <a:br/>
            <a:r>
              <a:t>⚠ Latencia acumulada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El Patrón Supervisor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El patrón más utilizado en sistemas multi-agente con LLMs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2011680"/>
            <a:ext cx="1508760" cy="25603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82880" y="2011680"/>
            <a:ext cx="150876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56032" y="219456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0A5FA"/>
                </a:solidFill>
              </a:defRPr>
            </a:pPr>
            <a:r>
              <a:t>Recibir</a:t>
            </a:r>
            <a:br/>
            <a:r>
              <a:t>Solicitud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28346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Acepta la tarea</a:t>
            </a:r>
            <a:br/>
            <a:r>
              <a:t>y los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92808" y="2011680"/>
            <a:ext cx="1508760" cy="25603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892808" y="2011680"/>
            <a:ext cx="150876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65960" y="219456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0A5FA"/>
                </a:solidFill>
              </a:defRPr>
            </a:pPr>
            <a:r>
              <a:t>Analizar</a:t>
            </a:r>
            <a:br/>
            <a:r>
              <a:t>Entrada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28346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Determina qué</a:t>
            </a:r>
            <a:br/>
            <a:r>
              <a:t>tipo de trabajo</a:t>
            </a:r>
            <a:br/>
            <a:r>
              <a:t>se necesita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848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2736" y="2011680"/>
            <a:ext cx="1508760" cy="25603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02736" y="2011680"/>
            <a:ext cx="150876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75888" y="219456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Seleccionar</a:t>
            </a:r>
            <a:br/>
            <a:r>
              <a:t>Agentes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8" y="28346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Elige qué agentes</a:t>
            </a:r>
            <a:br/>
            <a:r>
              <a:t>son relevantes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65776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12664" y="2011680"/>
            <a:ext cx="1508760" cy="25603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12664" y="2011680"/>
            <a:ext cx="150876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85816" y="219456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Despachar</a:t>
            </a:r>
            <a:br/>
            <a:r>
              <a:t>Trabajo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85816" y="28346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Envía tareas a</a:t>
            </a:r>
            <a:br/>
            <a:r>
              <a:t>agentes (paralelo</a:t>
            </a:r>
            <a:br/>
            <a:r>
              <a:t>o secuencial)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75704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22592" y="2011680"/>
            <a:ext cx="1508760" cy="25603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022592" y="2011680"/>
            <a:ext cx="150876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095744" y="219456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Recolectar</a:t>
            </a:r>
            <a:br/>
            <a:r>
              <a:t>Resultados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95744" y="28346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Reúne salidas</a:t>
            </a:r>
            <a:br/>
            <a:r>
              <a:t>de todos los</a:t>
            </a:r>
            <a:br/>
            <a:r>
              <a:t>agentes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85632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32520" y="2011680"/>
            <a:ext cx="1508760" cy="25603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732520" y="2011680"/>
            <a:ext cx="1508760" cy="50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05672" y="219456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7171"/>
                </a:solidFill>
              </a:defRPr>
            </a:pPr>
            <a:r>
              <a:t>Detectar</a:t>
            </a:r>
            <a:br/>
            <a:r>
              <a:t>Conflictos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05672" y="28346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Cruza salidas</a:t>
            </a:r>
            <a:br/>
            <a:r>
              <a:t>buscando</a:t>
            </a:r>
            <a:br/>
            <a:r>
              <a:t>contradicciones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42448" y="2011680"/>
            <a:ext cx="1508760" cy="25603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10442448" y="2011680"/>
            <a:ext cx="150876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515600" y="2194560"/>
            <a:ext cx="137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78BFA"/>
                </a:solidFill>
              </a:defRPr>
            </a:pPr>
            <a:r>
              <a:t>Resolver y</a:t>
            </a:r>
            <a:br/>
            <a:r>
              <a:t>Agregar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283464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Aplica reglas,</a:t>
            </a:r>
            <a:br/>
            <a:r>
              <a:t>construye</a:t>
            </a:r>
            <a:br/>
            <a:r>
              <a:t>resultado final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49377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</a:defRPr>
            </a:pPr>
            <a:r>
              <a:t>Propiedad clave: el supervisor NO realiza análisis de dominio.</a:t>
            </a:r>
            <a:br/>
            <a:r>
              <a:t>Solo coordina. Toda la inteligencia reside en los agentes.</a:t>
            </a:r>
            <a:br/>
            <a:r>
              <a:t>Esta separación permite agregar, quitar o intercambiar agentes sin cambiar el orquestador.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LLMs como Motor de Razonamiento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La inteligencia detrás de los agentes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011680"/>
            <a:ext cx="1691640" cy="219456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2011680"/>
            <a:ext cx="169164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47472" y="21945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0A5FA"/>
                </a:solidFill>
              </a:defRPr>
            </a:pPr>
            <a:r>
              <a:t>System</a:t>
            </a:r>
            <a:br/>
            <a:r>
              <a:t>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27889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Identidad e</a:t>
            </a:r>
            <a:br/>
            <a:r>
              <a:t>instrucciones</a:t>
            </a:r>
            <a:br/>
            <a:r>
              <a:t>del agente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79" y="2011680"/>
            <a:ext cx="1691640" cy="219456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240279" y="2011680"/>
            <a:ext cx="169164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13431" y="21945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  +  Contexto</a:t>
            </a:r>
            <a:br/>
            <a:r>
              <a:t>de Entrada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13431" y="27889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Datos específicos</a:t>
            </a:r>
            <a:br/>
            <a:r>
              <a:t>de la tarea</a:t>
            </a:r>
            <a:br/>
            <a:r>
              <a:t>a analizar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2011680"/>
            <a:ext cx="1691640" cy="219456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06240" y="2011680"/>
            <a:ext cx="169164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9392" y="21945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  =  Prompt</a:t>
            </a:r>
            <a:br/>
            <a:r>
              <a:t>Completo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27889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Se combina en</a:t>
            </a:r>
            <a:br/>
            <a:r>
              <a:t>una solicitud</a:t>
            </a:r>
            <a:br/>
            <a:r>
              <a:t>al LLM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199" y="2011680"/>
            <a:ext cx="1691640" cy="219456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72199" y="2011680"/>
            <a:ext cx="169164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45351" y="21945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78BFA"/>
                </a:solidFill>
              </a:defRPr>
            </a:pPr>
            <a:r>
              <a:t>  →  Llamada</a:t>
            </a:r>
            <a:br/>
            <a:r>
              <a:t>al 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1" y="27889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El modelo genera</a:t>
            </a:r>
            <a:br/>
            <a:r>
              <a:t>una respuesta</a:t>
            </a:r>
            <a:br/>
            <a:r>
              <a:t>en texto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2011680"/>
            <a:ext cx="1691640" cy="219456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38160" y="2011680"/>
            <a:ext cx="1691640" cy="508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11312" y="21945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472B6"/>
                </a:solidFill>
              </a:defRPr>
            </a:pPr>
            <a:r>
              <a:t>  →  Parseo</a:t>
            </a:r>
            <a:br/>
            <a:r>
              <a:t>de Salida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7889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Se extrae datos</a:t>
            </a:r>
            <a:br/>
            <a:r>
              <a:t>estructurados</a:t>
            </a:r>
            <a:br/>
            <a:r>
              <a:t>del texto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04120" y="2011680"/>
            <a:ext cx="1691640" cy="219456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104120" y="2011680"/>
            <a:ext cx="169164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177272" y="21945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  →  Resultado</a:t>
            </a:r>
            <a:br/>
            <a:r>
              <a:t>del Agente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77272" y="2788920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Salida tipada</a:t>
            </a:r>
            <a:br/>
            <a:r>
              <a:t>para el</a:t>
            </a:r>
            <a:br/>
            <a:r>
              <a:t>orquestador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6634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</a:defRPr>
            </a:pPr>
            <a:r>
              <a:t>El system prompt ES la expertise del agente. Cambiando solo el prompt se crea un especialista</a:t>
            </a:r>
            <a:br/>
            <a:r>
              <a:t>completamente diferente — sin cambiar código. El mismo LLM puede actuar como auditor de</a:t>
            </a:r>
            <a:br/>
            <a:r>
              <a:t>seguridad, revisor de UX y analista de rendimiento simultáneamente.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PARTE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El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63240"/>
            <a:ext cx="210312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¿Qué pasa con las user stories hoy?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515600" cy="77724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37160" cy="508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27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</a:defRPr>
            </a:pPr>
            <a:r>
              <a:t>Ambigüedad funcional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65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Los developers asumen → retrabajo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10515600" cy="77724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468880"/>
            <a:ext cx="13716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5420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</a:defRPr>
            </a:pPr>
            <a:r>
              <a:t>Criterios de aceptación ausentes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QA sin base → defectos en producción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383280"/>
            <a:ext cx="10515600" cy="77724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3383280"/>
            <a:ext cx="13716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4564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</a:defRPr>
            </a:pPr>
            <a:r>
              <a:t>Riesgos técnicos no detectados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947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Sorpresas arquitectónicas a mitad del sprint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97680"/>
            <a:ext cx="10515600" cy="77724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4297680"/>
            <a:ext cx="13716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3708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</a:defRPr>
            </a:pPr>
            <a:r>
              <a:t>Puntos ciegos de 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7091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Flujos malos descubiertos en UAT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212080"/>
            <a:ext cx="10515600" cy="77724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5212080"/>
            <a:ext cx="137160" cy="508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52852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72B6"/>
                </a:solidFill>
              </a:defRPr>
            </a:pPr>
            <a:r>
              <a:t>Brechas de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6235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Problemas legales/seguridad post-entrega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La pregunta del POC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463040"/>
            <a:ext cx="9418320" cy="128016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0" y="1645920"/>
            <a:ext cx="8869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0A5FA"/>
                </a:solidFill>
              </a:defRPr>
            </a:pPr>
            <a:r>
              <a:t>¿Puede un sistema multi-agente hacer esta revisión de forma</a:t>
            </a:r>
            <a:br/>
            <a:r>
              <a:t>automática, dinámica y trazable — en segundos?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2004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Objetivos de aprendizaje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600" b="0">
                <a:solidFill>
                  <a:srgbClr val="E2E8F0"/>
                </a:solidFill>
              </a:defRPr>
            </a:pPr>
            <a:r>
              <a:t>•  Practicar orquestación multi-agente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•  Implementar selección dinámica de agentes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•  Abstraer múltiples proveedores de LLM (Bedrock + Ollama)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•  Diseñar trazabilidad completa de decisiones</a:t>
            </a:r>
          </a:p>
          <a:p>
            <a:pPr>
              <a:spcBef>
                <a:spcPts val="400"/>
              </a:spcBef>
              <a:defRPr sz="1600">
                <a:solidFill>
                  <a:srgbClr val="E2E8F0"/>
                </a:solidFill>
              </a:defRPr>
            </a:pPr>
            <a:r>
              <a:t>•  Demostrar valor práctico en revisión temprana de historias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PARTE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La Arquitectura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63240"/>
            <a:ext cx="210312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La solución de un vistazo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371600"/>
            <a:ext cx="9418320" cy="64008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645920" y="141732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60A5FA"/>
                </a:solidFill>
              </a:defRPr>
            </a:pPr>
            <a:r>
              <a:t>Historia de usuario  →  [Supervisor]  →  [Agentes]  →  Resultado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515600" cy="6858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0A5FA"/>
                </a:solidFill>
              </a:defRPr>
            </a:pPr>
            <a:r>
              <a:t>✦  Un supervisor orquesta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Lee la historia y decide qué especialistas consultar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00400"/>
            <a:ext cx="10515600" cy="6858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</a:defRPr>
            </a:pPr>
            <a:r>
              <a:t>✦  Cinco agentes especializados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566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Cada uno cubre una dimensión diferente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515600" cy="6858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4069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</a:defRPr>
            </a:pPr>
            <a:r>
              <a:t>✦  No todos los agentes corren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891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Selección dinámica — objetivo central del diseño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10515600" cy="6858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892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</a:defRPr>
            </a:pPr>
            <a:r>
              <a:t>✦  Dos proveedores 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212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Amazon Bedrock (nube) y Ollama (local)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669280"/>
            <a:ext cx="10515600" cy="6858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5715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72B6"/>
                </a:solidFill>
              </a:defRPr>
            </a:pPr>
            <a:r>
              <a:t>✦  Todo queda registrado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6035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Log estructurado JSONL de cada decisión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El flujo paso a paso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645920"/>
            <a:ext cx="1737360" cy="41148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22960" y="1371600"/>
            <a:ext cx="640080" cy="6400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2860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0A5FA"/>
                </a:solidFill>
              </a:defRPr>
            </a:pPr>
            <a:r>
              <a:t>API recibe</a:t>
            </a:r>
            <a:br/>
            <a:r>
              <a:t>ReviewRequest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92608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historia, proveedor,</a:t>
            </a:r>
            <a:br/>
            <a:r>
              <a:t>logging config</a:t>
            </a:r>
            <a:br/>
            <a:r>
              <a:t>→ log: request_received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40279" y="1645920"/>
            <a:ext cx="1737360" cy="41148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788919" y="1371600"/>
            <a:ext cx="640080" cy="6400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19" y="22860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0A5FA"/>
                </a:solidFill>
              </a:defRPr>
            </a:pPr>
            <a:r>
              <a:t>Supervisor</a:t>
            </a:r>
            <a:br/>
            <a:r>
              <a:t>analiza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19" y="292608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supervisor_started</a:t>
            </a:r>
            <a:br/>
            <a:r>
              <a:t>→ inspecciona la</a:t>
            </a:r>
            <a:br/>
            <a:r>
              <a:t>historia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645920"/>
            <a:ext cx="1737360" cy="41148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754880" y="1371600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2860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AgentSelection</a:t>
            </a:r>
            <a:br/>
            <a:r>
              <a:t>Rules.Select()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92608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keywords en</a:t>
            </a:r>
            <a:br/>
            <a:r>
              <a:t>título+texto</a:t>
            </a:r>
            <a:br/>
            <a:r>
              <a:t>→ invoked[] + skipped[]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199" y="1645920"/>
            <a:ext cx="1737360" cy="41148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720839" y="1371600"/>
            <a:ext cx="640080" cy="6400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39" y="22860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BBF24"/>
                </a:solidFill>
              </a:defRPr>
            </a:pPr>
            <a:r>
              <a:t>Task.WhenAll</a:t>
            </a:r>
            <a:br/>
            <a:r>
              <a:t>agentes paralelo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39" y="292608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prompt + LLM call</a:t>
            </a:r>
            <a:br/>
            <a:r>
              <a:t>+ ParseResponse</a:t>
            </a:r>
            <a:br/>
            <a:r>
              <a:t>→ agent_completed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645920"/>
            <a:ext cx="1737360" cy="41148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686800" y="1371600"/>
            <a:ext cx="640080" cy="64008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2860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87171"/>
                </a:solidFill>
              </a:defRPr>
            </a:pPr>
            <a:r>
              <a:t>ConflictResolver</a:t>
            </a:r>
            <a:br/>
            <a:r>
              <a:t>.Detect()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92608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UX vs Técnico</a:t>
            </a:r>
            <a:br/>
            <a:r>
              <a:t>UX vs Compliance</a:t>
            </a:r>
            <a:br/>
            <a:r>
              <a:t>QA gap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04120" y="1645920"/>
            <a:ext cx="1737360" cy="41148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652760" y="137160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95560" y="228600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78BFA"/>
                </a:solidFill>
              </a:defRPr>
            </a:pPr>
            <a:r>
              <a:t>Supervisor</a:t>
            </a:r>
            <a:br/>
            <a:r>
              <a:t>compone resultado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95560" y="2926080"/>
            <a:ext cx="1554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merge issues/recs</a:t>
            </a:r>
            <a:br/>
            <a:r>
              <a:t>DetermineStatus</a:t>
            </a:r>
            <a:br/>
            <a:r>
              <a:t>BuildSummary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Cada paso genera un evento en el log JSONL → trazabilidad completa de la ejecución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PARTE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Los Agentes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63240"/>
            <a:ext cx="210312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Los cinco agentes especializados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554480"/>
            <a:ext cx="2103120" cy="45720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" y="1554480"/>
            <a:ext cx="210312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5488" y="182880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0A5FA"/>
                </a:solidFill>
              </a:defRPr>
            </a:pPr>
            <a:r>
              <a:t>ClarityAgent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219456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Claridad funcional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2560320"/>
            <a:ext cx="1874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Ambigüedades · reglas implícitas ·</a:t>
            </a:r>
            <a:br/>
            <a:r>
              <a:t>comportamientos no definidos</a:t>
            </a:r>
            <a:br/>
            <a:br/>
            <a:r>
              <a:t>"No se define qué pasa si</a:t>
            </a:r>
            <a:br/>
            <a:r>
              <a:t>el email no existe"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79" y="1554480"/>
            <a:ext cx="2103120" cy="45720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697479" y="1554480"/>
            <a:ext cx="210312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07207" y="182880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D399"/>
                </a:solidFill>
              </a:defRPr>
            </a:pPr>
            <a:r>
              <a:t>QaAgent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7207" y="219456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Testabilidad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7207" y="2560320"/>
            <a:ext cx="1874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Criterios de aceptación faltantes ·</a:t>
            </a:r>
            <a:br/>
            <a:r>
              <a:t>flujos de error no definidos</a:t>
            </a:r>
            <a:br/>
            <a:br/>
            <a:r>
              <a:t>"Faltan escenarios para</a:t>
            </a:r>
            <a:br/>
            <a:r>
              <a:t>intentos inválidos"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554480"/>
            <a:ext cx="2103120" cy="45720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0" y="1554480"/>
            <a:ext cx="210312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38928" y="182880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</a:defRPr>
            </a:pPr>
            <a:r>
              <a:t>TechnicalAgent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19456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Impacto técnico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38928" y="2560320"/>
            <a:ext cx="1874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Riesgos de arquitectura ·</a:t>
            </a:r>
            <a:br/>
            <a:r>
              <a:t>idempotencia · observabilidad</a:t>
            </a:r>
            <a:br/>
            <a:br/>
            <a:r>
              <a:t>"Se recomienda una cola para</a:t>
            </a:r>
            <a:br/>
            <a:r>
              <a:t>garantizar entrega única"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60919" y="1554480"/>
            <a:ext cx="2103120" cy="45720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60919" y="1554480"/>
            <a:ext cx="210312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470647" y="182880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</a:defRPr>
            </a:pPr>
            <a:r>
              <a:t>UxAgent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0647" y="219456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Experiencia de usuario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70647" y="2560320"/>
            <a:ext cx="1874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Fricción · mensajes confusos ·</a:t>
            </a:r>
            <a:br/>
            <a:r>
              <a:t>feedback visual ausente</a:t>
            </a:r>
            <a:br/>
            <a:br/>
            <a:r>
              <a:t>"El mensaje no debería revelar</a:t>
            </a:r>
            <a:br/>
            <a:r>
              <a:t>si el email existe"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1554480"/>
            <a:ext cx="2103120" cy="45720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692640" y="1554480"/>
            <a:ext cx="2103120" cy="508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02368" y="1828800"/>
            <a:ext cx="18745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72B6"/>
                </a:solidFill>
              </a:defRPr>
            </a:pPr>
            <a:r>
              <a:t>ComplianceAgent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2368" y="2194560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Seguridad y privacidad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02368" y="2560320"/>
            <a:ext cx="187451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Exposición de PII · autorización</a:t>
            </a:r>
            <a:br/>
            <a:r>
              <a:t>insuficiente · auditoría</a:t>
            </a:r>
            <a:br/>
            <a:br/>
            <a:r>
              <a:t>"La descarga requiere</a:t>
            </a:r>
            <a:br/>
            <a:r>
              <a:t>verificación de identidad"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Selección dinámica de agentes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515600" cy="7315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3716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0A5FA"/>
                </a:solidFill>
              </a:defRPr>
            </a:pPr>
            <a:r>
              <a:t>clarity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6459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Siempre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23160"/>
            <a:ext cx="10515600" cy="7315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13716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5146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4D399"/>
                </a:solidFill>
              </a:defRPr>
            </a:pPr>
            <a:r>
              <a:t>qa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5146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rPr dirty="0"/>
              <a:t>validation · error · state · criteria · failure · expiration…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91839"/>
            <a:ext cx="10515600" cy="7315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3291839"/>
            <a:ext cx="13716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3832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</a:defRPr>
            </a:pPr>
            <a:r>
              <a:t>technical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38327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retry · queue · integration · async · database · webhook…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60520"/>
            <a:ext cx="10515600" cy="7315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4160520"/>
            <a:ext cx="13716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2519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</a:defRPr>
            </a:pPr>
            <a:r>
              <a:t>ux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42519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screen · button · form · login · label · feedback…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029200"/>
            <a:ext cx="10515600" cy="7315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5029200"/>
            <a:ext cx="137160" cy="508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5120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472B6"/>
                </a:solidFill>
              </a:defRPr>
            </a:pPr>
            <a:r>
              <a:t>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512064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personal data · audit · download · gdpr · encryption…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BBF24"/>
                </a:solidFill>
              </a:defRPr>
            </a:pPr>
            <a:r>
              <a:t>Sin llamada al LLM para la selección — determinístico, costo cero, predecible en demo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PARTE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Decisiones Técnicas Clave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63240"/>
            <a:ext cx="210312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Ejecución en paralelo — Task.WhenAll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6400800" cy="201168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4D399"/>
                </a:solidFill>
              </a:defRPr>
            </a:pPr>
            <a:r>
              <a:t>var agentTasks = selection.Invoked</a:t>
            </a:r>
            <a:br/>
            <a:r>
              <a:t>    .Select(async name =&gt; {</a:t>
            </a:r>
            <a:br/>
            <a:r>
              <a:t>        var result = await agent.ExecuteAsync(context, ct);</a:t>
            </a:r>
            <a:br/>
            <a:r>
              <a:t>        return result;</a:t>
            </a:r>
            <a:br/>
            <a:r>
              <a:t>    }).ToList();</a:t>
            </a:r>
            <a:br/>
            <a:br/>
            <a:r>
              <a:t>var results = await Task.WhenAll(agentTasks);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463040"/>
            <a:ext cx="3840480" cy="201168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55279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¿Por qué paralelo?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2011680"/>
            <a:ext cx="3474720" cy="79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300" b="0">
                <a:solidFill>
                  <a:srgbClr val="E2E8F0"/>
                </a:solidFill>
              </a:defRPr>
            </a:pPr>
            <a:r>
              <a:rPr dirty="0"/>
              <a:t>•  </a:t>
            </a:r>
            <a:r>
              <a:rPr dirty="0" err="1"/>
              <a:t>Agentes</a:t>
            </a:r>
            <a:r>
              <a:rPr dirty="0"/>
              <a:t> son </a:t>
            </a:r>
            <a:r>
              <a:rPr dirty="0" err="1"/>
              <a:t>independientes</a:t>
            </a:r>
            <a:endParaRPr dirty="0"/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rPr dirty="0"/>
              <a:t>•  No hay </a:t>
            </a:r>
            <a:r>
              <a:rPr dirty="0" err="1"/>
              <a:t>estado</a:t>
            </a:r>
            <a:r>
              <a:rPr dirty="0"/>
              <a:t> </a:t>
            </a:r>
            <a:r>
              <a:rPr dirty="0" err="1"/>
              <a:t>compartido</a:t>
            </a:r>
            <a:endParaRPr dirty="0"/>
          </a:p>
          <a:p>
            <a:pPr>
              <a:spcBef>
                <a:spcPts val="400"/>
              </a:spcBef>
              <a:defRPr sz="1300">
                <a:solidFill>
                  <a:srgbClr val="E2E8F0"/>
                </a:solidFill>
              </a:defRPr>
            </a:pPr>
            <a:r>
              <a:rPr dirty="0"/>
              <a:t>•  </a:t>
            </a:r>
            <a:r>
              <a:rPr lang="en-US" dirty="0"/>
              <a:t>Menor </a:t>
            </a:r>
            <a:r>
              <a:rPr lang="en-US" dirty="0" err="1"/>
              <a:t>tiempo</a:t>
            </a:r>
            <a:r>
              <a:rPr lang="en-US" dirty="0"/>
              <a:t> de </a:t>
            </a:r>
            <a:r>
              <a:rPr lang="en-US" dirty="0" err="1"/>
              <a:t>ejecuci</a:t>
            </a:r>
            <a:r>
              <a:rPr lang="es-UY" dirty="0" err="1"/>
              <a:t>ó</a:t>
            </a:r>
            <a:r>
              <a:rPr lang="en-US" dirty="0"/>
              <a:t>n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Latencia comparada: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</a:defRPr>
            </a:pPr>
            <a:r>
              <a:t>Secuencial: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4297680"/>
            <a:ext cx="1371600" cy="45720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0F172A"/>
                </a:solidFill>
              </a:defRPr>
            </a:pPr>
            <a:r>
              <a:t> 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45152" y="4297680"/>
            <a:ext cx="1828800" cy="457200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0F172A"/>
                </a:solidFill>
              </a:defRPr>
            </a:pPr>
            <a:r>
              <a:t> Q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47104" y="4297680"/>
            <a:ext cx="1371600" cy="45720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0F172A"/>
                </a:solidFill>
              </a:defRPr>
            </a:pPr>
            <a:r>
              <a:t> 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4297680"/>
            <a:ext cx="1371600" cy="457200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0F172A"/>
                </a:solidFill>
              </a:defRPr>
            </a:pPr>
            <a:r>
              <a:t> 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4297680"/>
            <a:ext cx="1371600" cy="457200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1100" b="1">
                <a:solidFill>
                  <a:srgbClr val="0F172A"/>
                </a:solidFill>
              </a:defRPr>
            </a:pPr>
            <a:r>
              <a:t> 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</a:defRPr>
            </a:pPr>
            <a:r>
              <a:t>Paralelo: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4937760"/>
            <a:ext cx="1371600" cy="256032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 Clarity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5257800"/>
            <a:ext cx="1828800" cy="256032"/>
          </a:xfrm>
          <a:prstGeom prst="round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 QA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0" y="5577840"/>
            <a:ext cx="1188720" cy="256032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 Technical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5897880"/>
            <a:ext cx="1371600" cy="256032"/>
          </a:xfrm>
          <a:prstGeom prst="round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 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6217920"/>
            <a:ext cx="1645920" cy="256032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l">
              <a:defRPr sz="900" b="1">
                <a:solidFill>
                  <a:srgbClr val="0F172A"/>
                </a:solidFill>
              </a:defRPr>
            </a:pPr>
            <a:r>
              <a:t> 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0" y="5212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</a:defRPr>
            </a:pPr>
            <a:r>
              <a:t>← total = agente más lento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Abstracción de proveedores LLM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515600" cy="64008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0A5FA"/>
                </a:solidFill>
              </a:defRPr>
            </a:pPr>
            <a:r>
              <a:t>Task&lt;ModelResponse&gt; GenerateAsync(ModelRequest request, CancellationToken ct);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515600" cy="54864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4D399"/>
                </a:solidFill>
              </a:defRPr>
            </a:pPr>
            <a:r>
              <a:t>ModelRouter.Resolve("bedrock") → BedrockClient     |     ModelRouter.Resolve("ollama") → OllamaClient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5029200" cy="27432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3291840"/>
            <a:ext cx="502920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</a:defRPr>
            </a:pPr>
            <a:r>
              <a:t>Amazon Bedrock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977639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400" b="0">
                <a:solidFill>
                  <a:srgbClr val="E2E8F0"/>
                </a:solidFill>
              </a:defRPr>
            </a:pPr>
            <a:r>
              <a:t>•  Auth: AWS credentials / IAM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•  Claude 3.5 Haiku · Sonnet · Nova · Llama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•  Demo: modelos enterprise, integración cloud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291840"/>
            <a:ext cx="4846320" cy="27432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3291840"/>
            <a:ext cx="484632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0" y="352044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4D399"/>
                </a:solidFill>
              </a:defRPr>
            </a:pPr>
            <a:r>
              <a:t>Ollama (local)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977639"/>
            <a:ext cx="42976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defRPr sz="1400" b="0">
                <a:solidFill>
                  <a:srgbClr val="E2E8F0"/>
                </a:solidFill>
              </a:defRPr>
            </a:pPr>
            <a:r>
              <a:t>•  Auth: ninguna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•  Cualquier modelo local (qwen2.5:3b, llama3.1…)</a:t>
            </a:r>
          </a:p>
          <a:p>
            <a:pPr>
              <a:spcBef>
                <a:spcPts val="400"/>
              </a:spcBef>
              <a:defRPr sz="1400">
                <a:solidFill>
                  <a:srgbClr val="E2E8F0"/>
                </a:solidFill>
              </a:defRPr>
            </a:pPr>
            <a:r>
              <a:t>•  Demo: iteración rápida sin dependencia cloud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</a:defRPr>
            </a:pPr>
            <a:r>
              <a:t>Los agentes y el supervisor no saben qué proveedor está activo. IModelClient es el único punto de acoplamiento.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Parsing defensivo de respuestas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</a:defRPr>
            </a:pPr>
            <a:r>
              <a:t>Los LLMs no siempre producen JSON limpio, aunque se los instruya.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560320" cy="18288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256032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057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</a:defRPr>
            </a:pPr>
            <a:r>
              <a:t>1. TryParseJson(raw)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51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Parse estricto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28800"/>
            <a:ext cx="2560320" cy="18288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74720" y="1828800"/>
            <a:ext cx="256032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2057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</a:defRPr>
            </a:pPr>
            <a:r>
              <a:t>2. TryParseJson(RepairJson)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651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Arregla comas, trailing</a:t>
            </a:r>
            <a:br/>
            <a:r>
              <a:t>commas, comillas sin escapar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828800"/>
            <a:ext cx="2560320" cy="18288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0" y="1828800"/>
            <a:ext cx="256032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2057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BBF24"/>
                </a:solidFill>
              </a:defRPr>
            </a:pPr>
            <a:r>
              <a:t>3. TryParseJson(</a:t>
            </a:r>
            <a:br/>
            <a:r>
              <a:t>     TryCompleteJson)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651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Cierra brackets/braces</a:t>
            </a:r>
            <a:br/>
            <a:r>
              <a:t>abiertos — respuesta</a:t>
            </a:r>
            <a:br/>
            <a:r>
              <a:t>truncada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1828800"/>
            <a:ext cx="2560320" cy="18288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26880" y="1828800"/>
            <a:ext cx="256032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464040" y="2057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</a:defRPr>
            </a:pPr>
            <a:r>
              <a:t>4. Repair + Complete</a:t>
            </a:r>
            <a:br/>
            <a:r>
              <a:t>     combinados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65176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</a:defRPr>
            </a:pPr>
            <a:r>
              <a:t>Ambas correcciones</a:t>
            </a:r>
            <a:br/>
            <a:r>
              <a:t>aplicadas juntas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023360"/>
            <a:ext cx="11064240" cy="914400"/>
          </a:xfrm>
          <a:prstGeom prst="round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31520" y="4069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→ fallback: status="parse_error"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4348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F172A"/>
                </a:solidFill>
              </a:defRPr>
            </a:pPr>
            <a:r>
              <a:t>rawSummary = texto completo — sin crash, sin excepción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03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0A5FA"/>
                </a:solidFill>
              </a:defRPr>
            </a:pPr>
            <a:r>
              <a:t>Texto raw del LLM  →  parse estricto  →  repair  →  complete  →  repair+complete  →  fallback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PARTE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Lo que Aprendimos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63240"/>
            <a:ext cx="210312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Lo que aprendimos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54864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389888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</a:defRPr>
            </a:pPr>
            <a: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8988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</a:defRPr>
            </a:pPr>
            <a:r>
              <a:t>Keywords es suficiente para un POC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645920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Predecible · costo cero · para producción se puede upgradear a clasificación con LLM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29967"/>
            <a:ext cx="10515600" cy="54864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</a:defRPr>
            </a:pPr>
            <a:r>
              <a:t>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04825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</a:defRPr>
            </a:pPr>
            <a:r>
              <a:t>El parsing defensivo es no negociable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304287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Modelos truncan · agregan fences · omiten brackets → RepairJson + TryCompleteJson desde día uno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88336"/>
            <a:ext cx="10515600" cy="54864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270662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</a:defRPr>
            </a:pPr>
            <a: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70662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</a:defRPr>
            </a:pPr>
            <a:r>
              <a:t>maxTokens es un fallo silencioso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962656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Respuesta truncada se ve como normal — sin señal de error · siempre configurar MaxTokens explícito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55848"/>
            <a:ext cx="10515600" cy="54864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37413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</a:defRPr>
            </a:pPr>
            <a:r>
              <a:t>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374136"/>
            <a:ext cx="5029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</a:defRPr>
            </a:pPr>
            <a:r>
              <a:rPr dirty="0"/>
              <a:t>La </a:t>
            </a:r>
            <a:r>
              <a:rPr dirty="0" err="1"/>
              <a:t>abstracción</a:t>
            </a:r>
            <a:r>
              <a:rPr dirty="0"/>
              <a:t> de </a:t>
            </a:r>
            <a:r>
              <a:rPr dirty="0" err="1"/>
              <a:t>proveedor</a:t>
            </a:r>
            <a:r>
              <a:rPr dirty="0"/>
              <a:t> </a:t>
            </a:r>
            <a:r>
              <a:rPr lang="en-US" dirty="0"/>
              <a:t>da </a:t>
            </a:r>
            <a:r>
              <a:rPr lang="en-US" dirty="0" err="1"/>
              <a:t>mucha</a:t>
            </a:r>
            <a:r>
              <a:rPr lang="en-US" dirty="0"/>
              <a:t> </a:t>
            </a:r>
            <a:r>
              <a:rPr lang="en-US" dirty="0" err="1"/>
              <a:t>flexibilidad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1280160" y="3630168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rPr dirty="0"/>
              <a:t>Cambiar de </a:t>
            </a:r>
            <a:r>
              <a:rPr dirty="0" err="1"/>
              <a:t>Ollama</a:t>
            </a:r>
            <a:r>
              <a:rPr dirty="0"/>
              <a:t> a Bedrock no </a:t>
            </a:r>
            <a:r>
              <a:rPr dirty="0" err="1"/>
              <a:t>requirió</a:t>
            </a:r>
            <a:r>
              <a:rPr dirty="0"/>
              <a:t> </a:t>
            </a:r>
            <a:r>
              <a:rPr dirty="0" err="1"/>
              <a:t>tocar</a:t>
            </a:r>
            <a:r>
              <a:rPr dirty="0"/>
              <a:t> </a:t>
            </a:r>
            <a:r>
              <a:rPr dirty="0" err="1"/>
              <a:t>ningún</a:t>
            </a:r>
            <a:r>
              <a:rPr dirty="0"/>
              <a:t> </a:t>
            </a:r>
            <a:r>
              <a:rPr dirty="0" err="1"/>
              <a:t>agente</a:t>
            </a:r>
            <a:r>
              <a:rPr dirty="0"/>
              <a:t> </a:t>
            </a:r>
            <a:r>
              <a:rPr dirty="0" err="1"/>
              <a:t>ni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supervisor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014216"/>
            <a:ext cx="10515600" cy="54864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03250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72B6"/>
                </a:solidFill>
              </a:defRPr>
            </a:pPr>
            <a:r>
              <a:t>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59" y="4032504"/>
            <a:ext cx="8522602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72B6"/>
                </a:solidFill>
              </a:defRPr>
            </a:pPr>
            <a:r>
              <a:rPr lang="en-US" dirty="0"/>
              <a:t>En la </a:t>
            </a:r>
            <a:r>
              <a:rPr lang="en-US" dirty="0" err="1"/>
              <a:t>comparacion</a:t>
            </a:r>
            <a:r>
              <a:rPr lang="en-US" dirty="0"/>
              <a:t> de </a:t>
            </a:r>
            <a:r>
              <a:rPr lang="en-US" dirty="0" err="1"/>
              <a:t>resultados</a:t>
            </a:r>
            <a:r>
              <a:rPr lang="en-US" dirty="0"/>
              <a:t> de </a:t>
            </a:r>
            <a:r>
              <a:rPr lang="en-US" dirty="0" err="1"/>
              <a:t>diferentes</a:t>
            </a:r>
            <a:r>
              <a:rPr lang="en-US" dirty="0"/>
              <a:t> </a:t>
            </a:r>
            <a:r>
              <a:rPr lang="en-US" dirty="0" err="1"/>
              <a:t>modelos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analisis</a:t>
            </a:r>
            <a:r>
              <a:rPr lang="en-US" dirty="0"/>
              <a:t> </a:t>
            </a:r>
            <a:r>
              <a:rPr dirty="0" err="1"/>
              <a:t>semántico</a:t>
            </a:r>
            <a:r>
              <a:rPr dirty="0"/>
              <a:t> </a:t>
            </a:r>
            <a:r>
              <a:rPr dirty="0" err="1"/>
              <a:t>supera</a:t>
            </a:r>
            <a:r>
              <a:rPr dirty="0"/>
              <a:t> a</a:t>
            </a:r>
            <a:r>
              <a:rPr lang="en-US" dirty="0"/>
              <a:t> la </a:t>
            </a:r>
            <a:r>
              <a:rPr lang="en-US" dirty="0" err="1"/>
              <a:t>comparacion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dirty="0" err="1"/>
              <a:t>exacto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1280160" y="4288536"/>
            <a:ext cx="9601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rPr dirty="0"/>
              <a:t>"</a:t>
            </a:r>
            <a:r>
              <a:rPr dirty="0" err="1"/>
              <a:t>Expiración</a:t>
            </a:r>
            <a:r>
              <a:rPr dirty="0"/>
              <a:t> del link" ≠ "</a:t>
            </a:r>
            <a:r>
              <a:rPr dirty="0" err="1"/>
              <a:t>regla</a:t>
            </a:r>
            <a:r>
              <a:rPr dirty="0"/>
              <a:t> de </a:t>
            </a:r>
            <a:r>
              <a:rPr dirty="0" err="1"/>
              <a:t>vencimiento</a:t>
            </a:r>
            <a:r>
              <a:rPr lang="en-US" dirty="0"/>
              <a:t> de </a:t>
            </a:r>
            <a:r>
              <a:rPr lang="en-US" dirty="0" err="1"/>
              <a:t>validación</a:t>
            </a:r>
            <a:r>
              <a:rPr lang="en-US" dirty="0"/>
              <a:t> de email</a:t>
            </a:r>
            <a:r>
              <a:rPr dirty="0"/>
              <a:t>" </a:t>
            </a:r>
            <a:r>
              <a:rPr dirty="0" err="1"/>
              <a:t>en</a:t>
            </a:r>
            <a:r>
              <a:rPr dirty="0"/>
              <a:t> </a:t>
            </a:r>
            <a:r>
              <a:rPr lang="en-US" dirty="0"/>
              <a:t> </a:t>
            </a:r>
            <a:r>
              <a:rPr lang="en-US" dirty="0" err="1"/>
              <a:t>comparación</a:t>
            </a:r>
            <a:r>
              <a:rPr lang="en-US" dirty="0"/>
              <a:t> de </a:t>
            </a:r>
            <a:r>
              <a:rPr lang="en-US" dirty="0" err="1"/>
              <a:t>texto</a:t>
            </a:r>
            <a:r>
              <a:rPr lang="en-US" dirty="0"/>
              <a:t> </a:t>
            </a:r>
            <a:r>
              <a:rPr lang="en-US" dirty="0" err="1"/>
              <a:t>exacto</a:t>
            </a:r>
            <a:r>
              <a:rPr lang="en-US" dirty="0"/>
              <a:t> </a:t>
            </a:r>
            <a:r>
              <a:rPr dirty="0"/>
              <a:t>— </a:t>
            </a:r>
            <a:r>
              <a:rPr dirty="0" err="1"/>
              <a:t>pero</a:t>
            </a:r>
            <a:r>
              <a:rPr dirty="0"/>
              <a:t> son la </a:t>
            </a:r>
            <a:r>
              <a:rPr dirty="0" err="1"/>
              <a:t>misma</a:t>
            </a:r>
            <a:r>
              <a:rPr dirty="0"/>
              <a:t> </a:t>
            </a:r>
            <a:r>
              <a:rPr dirty="0" err="1"/>
              <a:t>preocupación</a:t>
            </a:r>
            <a:endParaRPr dirty="0"/>
          </a:p>
        </p:txBody>
      </p:sp>
      <p:sp>
        <p:nvSpPr>
          <p:cNvPr id="27" name="Rounded Rectangle 26"/>
          <p:cNvSpPr/>
          <p:nvPr/>
        </p:nvSpPr>
        <p:spPr>
          <a:xfrm>
            <a:off x="731520" y="4672584"/>
            <a:ext cx="10515600" cy="54864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6908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</a:defRPr>
            </a:pPr>
            <a:r>
              <a:t>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6908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</a:defRPr>
            </a:pPr>
            <a:r>
              <a:t>Prompts necesitan schema de output explícito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4946904"/>
            <a:ext cx="9601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Incluir nombres de propiedades + tipos + ejemplo → parse success rate dramáticamente mayor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PARTE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</a:defRPr>
            </a:pPr>
            <a:r>
              <a:t>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63240"/>
            <a:ext cx="210312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rPr dirty="0"/>
              <a:t>Demo Script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554480"/>
            <a:ext cx="2103120" cy="23317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51560" y="1280160"/>
            <a:ext cx="640080" cy="6400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210312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0A5FA"/>
                </a:solidFill>
              </a:defRPr>
            </a:pPr>
            <a:r>
              <a:t>Caso simple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2651760"/>
            <a:ext cx="187451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rPr dirty="0"/>
              <a:t>Provider: </a:t>
            </a:r>
            <a:r>
              <a:rPr dirty="0" err="1"/>
              <a:t>Ollama</a:t>
            </a:r>
            <a:br>
              <a:rPr dirty="0"/>
            </a:br>
            <a:r>
              <a:rPr dirty="0"/>
              <a:t>Mock: "Cambiar </a:t>
            </a:r>
            <a:r>
              <a:rPr dirty="0" err="1"/>
              <a:t>texto</a:t>
            </a:r>
            <a:r>
              <a:rPr dirty="0"/>
              <a:t> del </a:t>
            </a:r>
            <a:r>
              <a:rPr dirty="0" err="1"/>
              <a:t>botón</a:t>
            </a:r>
            <a:r>
              <a:rPr dirty="0"/>
              <a:t>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79" y="1554480"/>
            <a:ext cx="2103120" cy="23317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3383279" y="1280160"/>
            <a:ext cx="640080" cy="64008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07207" y="210312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4D399"/>
                </a:solidFill>
              </a:defRPr>
            </a:pPr>
            <a:r>
              <a:t>Historia funcional</a:t>
            </a:r>
            <a:br/>
            <a:r>
              <a:t>con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7207" y="2651760"/>
            <a:ext cx="18745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rPr dirty="0"/>
              <a:t>Provider: </a:t>
            </a:r>
            <a:r>
              <a:rPr dirty="0" err="1"/>
              <a:t>Ollama</a:t>
            </a:r>
            <a:br>
              <a:rPr dirty="0"/>
            </a:br>
            <a:r>
              <a:rPr dirty="0"/>
              <a:t>Mock: "</a:t>
            </a:r>
            <a:r>
              <a:rPr dirty="0" err="1"/>
              <a:t>Resetear</a:t>
            </a:r>
            <a:r>
              <a:rPr dirty="0"/>
              <a:t> </a:t>
            </a:r>
            <a:r>
              <a:rPr dirty="0" err="1"/>
              <a:t>contraseña</a:t>
            </a:r>
            <a:r>
              <a:rPr dirty="0"/>
              <a:t>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554480"/>
            <a:ext cx="2103120" cy="23317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715000" y="1280160"/>
            <a:ext cx="640080" cy="6400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210312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BBF24"/>
                </a:solidFill>
              </a:defRPr>
            </a:pPr>
            <a:r>
              <a:t>Historia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2651760"/>
            <a:ext cx="187451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rPr dirty="0"/>
              <a:t>Provider: </a:t>
            </a:r>
            <a:r>
              <a:rPr dirty="0" err="1"/>
              <a:t>Ollama</a:t>
            </a:r>
            <a:br>
              <a:rPr dirty="0"/>
            </a:br>
            <a:r>
              <a:rPr dirty="0"/>
              <a:t>Mock: "Retries </a:t>
            </a:r>
            <a:r>
              <a:rPr dirty="0" err="1"/>
              <a:t>automáticos</a:t>
            </a:r>
            <a:r>
              <a:rPr dirty="0"/>
              <a:t>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60919" y="1554479"/>
            <a:ext cx="2103120" cy="2331719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046719" y="1280160"/>
            <a:ext cx="640080" cy="64008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70647" y="210312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472B6"/>
                </a:solidFill>
              </a:defRPr>
            </a:pPr>
            <a:r>
              <a:t>Activación</a:t>
            </a:r>
            <a:br/>
            <a:r>
              <a:t>compliance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0647" y="2651760"/>
            <a:ext cx="187451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rPr dirty="0"/>
              <a:t>Provider: Bedrock</a:t>
            </a:r>
            <a:br>
              <a:rPr dirty="0"/>
            </a:br>
            <a:r>
              <a:rPr dirty="0"/>
              <a:t>Mock: "</a:t>
            </a:r>
            <a:r>
              <a:rPr dirty="0" err="1"/>
              <a:t>Descarga</a:t>
            </a:r>
            <a:r>
              <a:rPr dirty="0"/>
              <a:t> </a:t>
            </a:r>
            <a:r>
              <a:rPr dirty="0" err="1"/>
              <a:t>datos</a:t>
            </a:r>
            <a:br>
              <a:rPr dirty="0"/>
            </a:br>
            <a:r>
              <a:rPr dirty="0" err="1"/>
              <a:t>personales</a:t>
            </a:r>
            <a:r>
              <a:rPr dirty="0"/>
              <a:t>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1554480"/>
            <a:ext cx="2103120" cy="233172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378440" y="1280160"/>
            <a:ext cx="640080" cy="6400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F172A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02368" y="210312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A78BFA"/>
                </a:solidFill>
              </a:defRPr>
            </a:pPr>
            <a:r>
              <a:t>History +</a:t>
            </a:r>
            <a:br/>
            <a:r>
              <a:t>Semantic Compare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02368" y="2651760"/>
            <a:ext cx="1874519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rPr dirty="0"/>
              <a:t>Provider: </a:t>
            </a:r>
            <a:r>
              <a:rPr dirty="0" err="1"/>
              <a:t>cualquiera</a:t>
            </a:r>
            <a:br>
              <a:rPr dirty="0"/>
            </a:br>
            <a:r>
              <a:rPr dirty="0"/>
              <a:t>Mock: </a:t>
            </a:r>
            <a:r>
              <a:rPr dirty="0" err="1"/>
              <a:t>historia</a:t>
            </a:r>
            <a:r>
              <a:rPr dirty="0"/>
              <a:t> </a:t>
            </a:r>
            <a:r>
              <a:rPr dirty="0" err="1"/>
              <a:t>ya</a:t>
            </a:r>
            <a:r>
              <a:rPr dirty="0"/>
              <a:t> corrida x2</a:t>
            </a:r>
            <a:br>
              <a:rPr dirty="0"/>
            </a:br>
            <a:br>
              <a:rPr dirty="0"/>
            </a:br>
            <a:r>
              <a:rPr dirty="0"/>
              <a:t>Tab History</a:t>
            </a:r>
            <a:br>
              <a:rPr dirty="0"/>
            </a:br>
            <a:r>
              <a:rPr dirty="0"/>
              <a:t>→ Tab Compare</a:t>
            </a:r>
            <a:br>
              <a:rPr dirty="0"/>
            </a:br>
            <a:r>
              <a:rPr dirty="0"/>
              <a:t>→ pares </a:t>
            </a:r>
            <a:r>
              <a:rPr dirty="0" err="1"/>
              <a:t>semánticos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lang="en-US" dirty="0" err="1"/>
              <a:t>Resumen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892040" y="3063240"/>
            <a:ext cx="210312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¿Qué demuestra este POC?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515600" cy="6858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A5FA"/>
                </a:solidFill>
              </a:defRPr>
            </a:pPr>
            <a:r>
              <a:t>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08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0A5FA"/>
                </a:solidFill>
              </a:defRPr>
            </a:pPr>
            <a:r>
              <a:t>Selección dinámica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No todos los agentes corren siempre — con razones explícitas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86000"/>
            <a:ext cx="10515600" cy="6858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4D399"/>
                </a:solidFill>
              </a:defRPr>
            </a:pPr>
            <a: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31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</a:defRPr>
            </a:pPr>
            <a:r>
              <a:t>Especialización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Cada agente detecta su dimensión, no lo mismo con distinto nombre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10515600" cy="6858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1546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BBF24"/>
                </a:solidFill>
              </a:defRPr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546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</a:defRPr>
            </a:pPr>
            <a:r>
              <a:t>Abstracción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474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Bedrock y Ollama intercambiables sin tocar lógica de negocio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10515600" cy="6858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9776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78BFA"/>
                </a:solidFill>
              </a:defRPr>
            </a:pPr>
            <a: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77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</a:defRPr>
            </a:pPr>
            <a:r>
              <a:t>Trazabilidad completa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976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Cada decisión, prompt y respuesta queda en el log JSONL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754880"/>
            <a:ext cx="10515600" cy="6858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8006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472B6"/>
                </a:solidFill>
              </a:defRPr>
            </a:pPr>
            <a: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800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72B6"/>
                </a:solidFill>
              </a:defRPr>
            </a:pPr>
            <a:r>
              <a:t>Resiliencia LLM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120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Parsing defensivo, fallbacks, status degradados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577840"/>
            <a:ext cx="10515600" cy="68580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6235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0A5FA"/>
                </a:solidFill>
              </a:defRPr>
            </a:pPr>
            <a: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623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0A5FA"/>
                </a:solidFill>
              </a:defRPr>
            </a:pPr>
            <a:r>
              <a:t>Comparación cross-model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9436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</a:defRPr>
            </a:pPr>
            <a:r>
              <a:t>Diff semántico — no solo string-match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Stack técnico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515600" cy="59436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13716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53619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0A5FA"/>
                </a:solidFill>
              </a:defRPr>
            </a:pPr>
            <a:r>
              <a:t>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53619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C# / .NET 9  —  Minimal APIs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76272"/>
            <a:ext cx="10515600" cy="59436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2176272"/>
            <a:ext cx="13716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249424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</a:defRPr>
            </a:pPr>
            <a:r>
              <a:t>Orquestación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24942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ReviewSupervisor + Task.WhenAll en proceso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89504"/>
            <a:ext cx="10515600" cy="59436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889504"/>
            <a:ext cx="137160" cy="50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96265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</a:defRPr>
            </a:pPr>
            <a:r>
              <a:t>Proveedores 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6265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Amazon Bedrock SDK  ·  Ollama HTTP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02736"/>
            <a:ext cx="10515600" cy="59436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602736"/>
            <a:ext cx="137160" cy="50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67588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</a:defRPr>
            </a:pPr>
            <a:r>
              <a:t>Persistencia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67588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JSONL append-only — un archivo por ejecución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15968"/>
            <a:ext cx="10515600" cy="59436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4315968"/>
            <a:ext cx="137160" cy="50800"/>
          </a:xfrm>
          <a:prstGeom prst="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72B6"/>
                </a:solidFill>
              </a:defRPr>
            </a:pPr>
            <a:r>
              <a:t>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389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Angular 19 standalone  ·  Angular Material  ·  Signals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029200"/>
            <a:ext cx="10515600" cy="59436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1520" y="5029200"/>
            <a:ext cx="137160" cy="50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510235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0A5FA"/>
                </a:solidFill>
              </a:defRPr>
            </a:pPr>
            <a:r>
              <a:t>Comunicación UI↔API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510235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HTTP polling + REST endpoints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742431"/>
            <a:ext cx="10515600" cy="594360"/>
          </a:xfrm>
          <a:prstGeom prst="roundRect">
            <a:avLst/>
          </a:prstGeom>
          <a:solidFill>
            <a:srgbClr val="2734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1520" y="5742431"/>
            <a:ext cx="137160" cy="508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7280" y="5815583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4D399"/>
                </a:solidFill>
              </a:defRPr>
            </a:pPr>
            <a:r>
              <a:t>Comparación semántica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815583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2E8F0"/>
                </a:solidFill>
              </a:defRPr>
            </a:pPr>
            <a:r>
              <a:t>LLM prompt engineering + JSON parsing defensivo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¿Preguntas?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2834640"/>
            <a:ext cx="210312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MultiAgentLab — POC de revisión de user stories con arquitectura multi-agente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0A5FA"/>
                </a:solidFill>
              </a:defRPr>
            </a:pPr>
            <a:r>
              <a:t>Javier Calero  ·  Ariel Sisro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Endava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63de93b7-8949-4e3d-a08b-0d778f7f5cab}" enabled="1" method="Standard" siteId="{0b3fc178-b730-4e8b-9843-e81259237b7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2021</Words>
  <Application>Microsoft Office PowerPoint</Application>
  <PresentationFormat>Widescreen</PresentationFormat>
  <Paragraphs>310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Javier Calero</cp:lastModifiedBy>
  <cp:revision>9</cp:revision>
  <dcterms:created xsi:type="dcterms:W3CDTF">2013-01-27T09:14:16Z</dcterms:created>
  <dcterms:modified xsi:type="dcterms:W3CDTF">2026-05-14T19:00:32Z</dcterms:modified>
  <cp:category/>
</cp:coreProperties>
</file>