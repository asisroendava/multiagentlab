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MultiAgentLab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0A5FA"/>
                </a:solidFill>
              </a:defRPr>
            </a:pPr>
            <a:r>
              <a:t>Revisión de User Stories con Agentes de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017520"/>
            <a:ext cx="21031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Javier Calero  ·  Ariel Sisro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Presentación técnica  ·  Mayo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</a:defRPr>
            </a:pPr>
            <a:r>
              <a:t>Endava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029200" cy="475488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</a:defRPr>
            </a:pPr>
            <a:r>
              <a:t>Parte I — Conceptos Teóricos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0">
                <a:solidFill>
                  <a:srgbClr val="E2E8F0"/>
                </a:solidFill>
              </a:defRPr>
            </a:pPr>
            <a:r>
              <a:t>•  ¿Qué es un sistema multi-agente?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t>•  Agente único vs multi-agente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t>•  Patrones de orquestación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t>•  El patrón Supervisor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t>•  LLMs como motor de razonamiento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475488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D399"/>
                </a:solidFill>
              </a:defRPr>
            </a:pPr>
            <a:r>
              <a:t>Parte II — Implementación: MultiAgentLab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01168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0">
                <a:solidFill>
                  <a:srgbClr val="E2E8F0"/>
                </a:solidFill>
              </a:defRPr>
            </a:pPr>
            <a:r>
              <a:t>•  El problema y la pregunta del POC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t>•  La arquitectura y flujo paso a paso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t>•  Agentes especializados y selección dinámica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t>•  Decisiones técnicas clave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t>•  Lo que aprendimos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t>•  Demo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t>•  Resumen y stack técnico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PARTE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Conceptos Teóricos sobre Sistemas Multi-Agente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063240"/>
            <a:ext cx="21031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¿Qué es un Sistema Multi-Agente?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r>
              <a:t>Un Sistema Multi-Agente (MAS) es una arquitectura donde múltiples entidades autónomas y especializadas — llamadas agentes — colaboran para resolver un problema que está más allá de la capacidad de un solo agente trabajando individualmente.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43200"/>
            <a:ext cx="256032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2743200"/>
            <a:ext cx="256032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26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</a:defRPr>
            </a:pPr>
            <a:r>
              <a:t>Percepción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91840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Recibe datos de entrada:</a:t>
            </a:r>
            <a:br/>
            <a:r>
              <a:t>texto, contexto, estado</a:t>
            </a:r>
            <a:br/>
            <a:r>
              <a:t>del entorno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743200"/>
            <a:ext cx="256032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0" y="2743200"/>
            <a:ext cx="256032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2926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</a:defRPr>
            </a:pPr>
            <a:r>
              <a:t>Razonamiento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291840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Procesa la entrada usando</a:t>
            </a:r>
            <a:br/>
            <a:r>
              <a:t>su expertise — típicamente</a:t>
            </a:r>
            <a:br/>
            <a:r>
              <a:t>un LLM con un system prompt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743200"/>
            <a:ext cx="256032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743200"/>
            <a:ext cx="256032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926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</a:defRPr>
            </a:pPr>
            <a:r>
              <a:t>Acción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291840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Produce una salida:</a:t>
            </a:r>
            <a:br/>
            <a:r>
              <a:t>datos estructurados,</a:t>
            </a:r>
            <a:br/>
            <a:r>
              <a:t>decisiones o efectos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0" y="2743200"/>
            <a:ext cx="256032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26880" y="2743200"/>
            <a:ext cx="256032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64040" y="2926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</a:defRPr>
            </a:pPr>
            <a:r>
              <a:t>Autonomía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3291840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Decide cómo actuar sin</a:t>
            </a:r>
            <a:br/>
            <a:r>
              <a:t>instrucciones paso a paso</a:t>
            </a:r>
            <a:br/>
            <a:r>
              <a:t>de un controlador central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En sistemas basados en LLM, cada agente envuelve un modelo de lenguaje con un rol definido, instrucciones específicas y un formato de salida estructurado.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Agente Único vs Multi-Agente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</a:defRPr>
            </a:pPr>
            <a:r>
              <a:t>¿Por qué no usar un solo modelo grande?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02920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87171"/>
                </a:solidFill>
              </a:defRPr>
            </a:pPr>
            <a:r>
              <a:t>Un Solo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E2E8F0"/>
                </a:solidFill>
              </a:defRPr>
            </a:pPr>
            <a:r>
              <a:t>•  Las preocupaciones se mezclan en una sola respuesta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Imposible rastrear qué perspectiva levantó qué hallazgo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No se puede invocar selectivamente solo lo relevante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Salida monolítica — difícil de puntuar o agregar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Ventana de contexto se satura rápidamente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Punto único de falla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D399"/>
                </a:solidFill>
              </a:defRPr>
            </a:pPr>
            <a:r>
              <a:t>Multi-Agente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1945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E2E8F0"/>
                </a:solidFill>
              </a:defRPr>
            </a:pPr>
            <a:r>
              <a:t>•  Cada perspectiva tiene su propio contexto de razonamiento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Resultados trazables: quién dijo qué y por qué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Invocación selectiva — solo los agentes relevantes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Salida estructurada y agregable por agente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Ejecución en paralelo reduce la latencia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Degradación graceful ante fallos individuales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Patrones de Orquestación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</a:defRPr>
            </a:pPr>
            <a:r>
              <a:t>Cómo se coordinan los agentes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554480"/>
            <a:ext cx="265176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554480"/>
            <a:ext cx="265176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</a:defRPr>
            </a:pPr>
            <a:r>
              <a:t>Supervisor /</a:t>
            </a:r>
            <a:br/>
            <a:r>
              <a:t>Orquestador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68880"/>
            <a:ext cx="2377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Un coordinador central</a:t>
            </a:r>
            <a:br/>
            <a:r>
              <a:t>selecciona, despacha y</a:t>
            </a:r>
            <a:br/>
            <a:r>
              <a:t>agrega el trabajo.</a:t>
            </a:r>
            <a:br/>
            <a:br/>
            <a:r>
              <a:t>✅ Determinístico</a:t>
            </a:r>
            <a:br/>
            <a:r>
              <a:t>✅ Observable</a:t>
            </a:r>
            <a:br/>
            <a:r>
              <a:t>✅ Fácil de depurar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554480"/>
            <a:ext cx="265176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554480"/>
            <a:ext cx="265176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</a:defRPr>
            </a:pPr>
            <a:r>
              <a:t>Peer-to-Peer /</a:t>
            </a:r>
            <a:br/>
            <a:r>
              <a:t>Colaborativo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468880"/>
            <a:ext cx="2377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Los agentes se comunican</a:t>
            </a:r>
            <a:br/>
            <a:r>
              <a:t>directamente entre sí,</a:t>
            </a:r>
            <a:br/>
            <a:r>
              <a:t>negociando resultados.</a:t>
            </a:r>
            <a:br/>
            <a:br/>
            <a:r>
              <a:t>✅ Flexible</a:t>
            </a:r>
            <a:br/>
            <a:r>
              <a:t>✅ Comportamiento emergente</a:t>
            </a:r>
            <a:br/>
            <a:br/>
            <a:r>
              <a:t>⚠ Difícil de rastrear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54480"/>
            <a:ext cx="265176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554480"/>
            <a:ext cx="265176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8288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</a:defRPr>
            </a:pPr>
            <a:r>
              <a:t>Blackboard</a:t>
            </a:r>
            <a:br/>
            <a:r>
              <a:t>(Pizarra)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468880"/>
            <a:ext cx="2377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Los agentes leen/escriben</a:t>
            </a:r>
            <a:br/>
            <a:r>
              <a:t>en una base de conocimiento</a:t>
            </a:r>
            <a:br/>
            <a:r>
              <a:t>compartida.</a:t>
            </a:r>
            <a:br/>
            <a:br/>
            <a:r>
              <a:t>✅ Agentes desacoplados</a:t>
            </a:r>
            <a:br/>
            <a:r>
              <a:t>✅ Amigable con async</a:t>
            </a:r>
            <a:br/>
            <a:br/>
            <a:r>
              <a:t>⚠ Contención y orden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554480"/>
            <a:ext cx="265176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0" y="1554480"/>
            <a:ext cx="265176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1160" y="18288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</a:defRPr>
            </a:pPr>
            <a:r>
              <a:t>Jerárquico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2468880"/>
            <a:ext cx="2377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Múltiples niveles de</a:t>
            </a:r>
            <a:br/>
            <a:r>
              <a:t>supervisores. El nivel</a:t>
            </a:r>
            <a:br/>
            <a:r>
              <a:t>superior descompone.</a:t>
            </a:r>
            <a:br/>
            <a:br/>
            <a:r>
              <a:t>✅ Escala a complejidad</a:t>
            </a:r>
            <a:br/>
            <a:r>
              <a:t>✅ Divide y vencerás</a:t>
            </a:r>
            <a:br/>
            <a:br/>
            <a:r>
              <a:t>⚠ Latencia acumulada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El Patrón Supervisor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</a:defRPr>
            </a:pPr>
            <a:r>
              <a:t>El patrón más utilizado en sistemas multi-agente con LLMs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2011680"/>
            <a:ext cx="150876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2011680"/>
            <a:ext cx="150876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219456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0A5FA"/>
                </a:solidFill>
              </a:defRPr>
            </a:pPr>
            <a:r>
              <a:t>Recibir</a:t>
            </a:r>
            <a:br/>
            <a:r>
              <a:t>Solicitud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283464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Acepta la tarea</a:t>
            </a:r>
            <a:br/>
            <a:r>
              <a:t>y los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92808" y="2011680"/>
            <a:ext cx="150876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92808" y="2011680"/>
            <a:ext cx="150876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65960" y="219456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0A5FA"/>
                </a:solidFill>
              </a:defRPr>
            </a:pPr>
            <a:r>
              <a:t>Analizar</a:t>
            </a:r>
            <a:br/>
            <a:r>
              <a:t>Entrada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83464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Determina qué</a:t>
            </a:r>
            <a:br/>
            <a:r>
              <a:t>tipo de trabajo</a:t>
            </a:r>
            <a:br/>
            <a:r>
              <a:t>se necesita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584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2736" y="2011680"/>
            <a:ext cx="150876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02736" y="2011680"/>
            <a:ext cx="150876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8" y="219456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D399"/>
                </a:solidFill>
              </a:defRPr>
            </a:pPr>
            <a:r>
              <a:t>Seleccionar</a:t>
            </a:r>
            <a:br/>
            <a:r>
              <a:t>Agentes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5888" y="283464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Elige qué agentes</a:t>
            </a:r>
            <a:br/>
            <a:r>
              <a:t>son relevantes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65776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12664" y="2011680"/>
            <a:ext cx="150876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12664" y="2011680"/>
            <a:ext cx="150876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85816" y="219456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Despachar</a:t>
            </a:r>
            <a:br/>
            <a:r>
              <a:t>Trabajo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85816" y="283464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Envía tareas a</a:t>
            </a:r>
            <a:br/>
            <a:r>
              <a:t>agentes (paralelo</a:t>
            </a:r>
            <a:br/>
            <a:r>
              <a:t>o secuencial)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7570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22592" y="2011680"/>
            <a:ext cx="150876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22592" y="2011680"/>
            <a:ext cx="150876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219456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Recolectar</a:t>
            </a:r>
            <a:br/>
            <a:r>
              <a:t>Resultados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5744" y="283464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Reúne salidas</a:t>
            </a:r>
            <a:br/>
            <a:r>
              <a:t>de todos los</a:t>
            </a:r>
            <a:br/>
            <a:r>
              <a:t>agentes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5632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2011680"/>
            <a:ext cx="150876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2011680"/>
            <a:ext cx="1508760" cy="508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05672" y="219456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87171"/>
                </a:solidFill>
              </a:defRPr>
            </a:pPr>
            <a:r>
              <a:t>Detectar</a:t>
            </a:r>
            <a:br/>
            <a:r>
              <a:t>Conflictos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05672" y="283464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Cruza salidas</a:t>
            </a:r>
            <a:br/>
            <a:r>
              <a:t>buscando</a:t>
            </a:r>
            <a:br/>
            <a:r>
              <a:t>contradicciones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42448" y="2011680"/>
            <a:ext cx="1508760" cy="25603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442448" y="2011680"/>
            <a:ext cx="150876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0" y="219456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78BFA"/>
                </a:solidFill>
              </a:defRPr>
            </a:pPr>
            <a:r>
              <a:t>Resolver y</a:t>
            </a:r>
            <a:br/>
            <a:r>
              <a:t>Agregar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283464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Aplica reglas,</a:t>
            </a:r>
            <a:br/>
            <a:r>
              <a:t>construye</a:t>
            </a:r>
            <a:br/>
            <a:r>
              <a:t>resultado final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9377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</a:defRPr>
            </a:pPr>
            <a:r>
              <a:t>Propiedad clave: el supervisor NO realiza análisis de dominio.</a:t>
            </a:r>
            <a:br/>
            <a:r>
              <a:t>Solo coordina. Toda la inteligencia reside en los agentes.</a:t>
            </a:r>
            <a:br/>
            <a:r>
              <a:t>Esta separación permite agregar, quitar o intercambiar agentes sin cambiar el orquestador.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LLMs como Motor de Razonamiento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</a:defRPr>
            </a:pPr>
            <a:r>
              <a:t>La inteligencia detrás de los agentes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2011680"/>
            <a:ext cx="1691640" cy="21945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011680"/>
            <a:ext cx="169164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21945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0A5FA"/>
                </a:solidFill>
              </a:defRPr>
            </a:pPr>
            <a:r>
              <a:t>System</a:t>
            </a:r>
            <a:br/>
            <a:r>
              <a:t>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278892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Identidad e</a:t>
            </a:r>
            <a:br/>
            <a:r>
              <a:t>instrucciones</a:t>
            </a:r>
            <a:br/>
            <a:r>
              <a:t>del agente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79" y="2011680"/>
            <a:ext cx="1691640" cy="21945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40279" y="2011680"/>
            <a:ext cx="169164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3431" y="21945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D399"/>
                </a:solidFill>
              </a:defRPr>
            </a:pPr>
            <a:r>
              <a:t>  +  Contexto</a:t>
            </a:r>
            <a:br/>
            <a:r>
              <a:t>de Entrada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3431" y="278892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Datos específicos</a:t>
            </a:r>
            <a:br/>
            <a:r>
              <a:t>de la tarea</a:t>
            </a:r>
            <a:br/>
            <a:r>
              <a:t>a analizar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2011680"/>
            <a:ext cx="1691640" cy="21945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2011680"/>
            <a:ext cx="169164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21945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  =  Prompt</a:t>
            </a:r>
            <a:br/>
            <a:r>
              <a:t>Completo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278892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Se combina en</a:t>
            </a:r>
            <a:br/>
            <a:r>
              <a:t>una solicitud</a:t>
            </a:r>
            <a:br/>
            <a:r>
              <a:t>al LLM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199" y="2011680"/>
            <a:ext cx="1691640" cy="21945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199" y="2011680"/>
            <a:ext cx="169164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5351" y="21945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78BFA"/>
                </a:solidFill>
              </a:defRPr>
            </a:pPr>
            <a:r>
              <a:t>  →  Llamada</a:t>
            </a:r>
            <a:br/>
            <a:r>
              <a:t>al 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1" y="278892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El modelo genera</a:t>
            </a:r>
            <a:br/>
            <a:r>
              <a:t>una respuesta</a:t>
            </a:r>
            <a:br/>
            <a:r>
              <a:t>en texto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2011680"/>
            <a:ext cx="1691640" cy="21945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2011680"/>
            <a:ext cx="1691640" cy="508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21945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472B6"/>
                </a:solidFill>
              </a:defRPr>
            </a:pPr>
            <a:r>
              <a:t>  →  Parseo</a:t>
            </a:r>
            <a:br/>
            <a:r>
              <a:t>de Salida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78892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Se extrae datos</a:t>
            </a:r>
            <a:br/>
            <a:r>
              <a:t>estructurados</a:t>
            </a:r>
            <a:br/>
            <a:r>
              <a:t>del texto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2011680"/>
            <a:ext cx="1691640" cy="21945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104120" y="2011680"/>
            <a:ext cx="169164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77272" y="21945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D399"/>
                </a:solidFill>
              </a:defRPr>
            </a:pPr>
            <a:r>
              <a:t>  →  Resultado</a:t>
            </a:r>
            <a:br/>
            <a:r>
              <a:t>del Agente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77272" y="278892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Salida tipada</a:t>
            </a:r>
            <a:br/>
            <a:r>
              <a:t>para el</a:t>
            </a:r>
            <a:br/>
            <a:r>
              <a:t>orquestador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6634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</a:defRPr>
            </a:pPr>
            <a:r>
              <a:t>El system prompt ES la expertise del agente. Cambiando solo el prompt se crea un especialista</a:t>
            </a:r>
            <a:br/>
            <a:r>
              <a:t>completamente diferente — sin cambiar código. El mismo LLM puede actuar como auditor de</a:t>
            </a:r>
            <a:br/>
            <a:r>
              <a:t>seguridad, revisor de UX y analista de rendimiento simultáneamente.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PARTE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El 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063240"/>
            <a:ext cx="21031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¿Qué pasa con las user stories hoy?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515600" cy="7772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137160" cy="508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276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87171"/>
                </a:solidFill>
              </a:defRPr>
            </a:pPr>
            <a:r>
              <a:t>Ambigüedad funcional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Los developers asumen → retrabajo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10515600" cy="7772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468880"/>
            <a:ext cx="13716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420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</a:defRPr>
            </a:pPr>
            <a:r>
              <a:t>Criterios de aceptación ausentes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880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QA sin base → defectos en producción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383280"/>
            <a:ext cx="10515600" cy="7772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83280"/>
            <a:ext cx="13716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4564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0A5FA"/>
                </a:solidFill>
              </a:defRPr>
            </a:pPr>
            <a:r>
              <a:t>Riesgos técnicos no detectados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94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Sorpresas arquitectónicas a mitad del sprint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97680"/>
            <a:ext cx="10515600" cy="7772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297680"/>
            <a:ext cx="13716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3708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</a:defRPr>
            </a:pPr>
            <a:r>
              <a:t>Puntos ciegos de 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091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Flujos malos descubiertos en UAT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12080"/>
            <a:ext cx="10515600" cy="7772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5212080"/>
            <a:ext cx="137160" cy="508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2852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472B6"/>
                </a:solidFill>
              </a:defRPr>
            </a:pPr>
            <a:r>
              <a:t>Brechas de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623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Problemas legales/seguridad post-entrega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La pregunta del POC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463040"/>
            <a:ext cx="9418320" cy="12801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645920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0A5FA"/>
                </a:solidFill>
              </a:defRPr>
            </a:pPr>
            <a:r>
              <a:t>¿Puede un sistema multi-agente hacer esta revisión de forma</a:t>
            </a:r>
            <a:br/>
            <a:r>
              <a:t>automática, dinámica y trazable — en segundos?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Objetivos de aprendizaje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749039"/>
            <a:ext cx="9418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0">
                <a:solidFill>
                  <a:srgbClr val="E2E8F0"/>
                </a:solidFill>
              </a:defRPr>
            </a:pPr>
            <a:r>
              <a:t>•  Practicar orquestación multi-agente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t>•  Implementar selección dinámica de agentes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t>•  Abstraer múltiples proveedores de LLM (Bedrock + Ollama)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t>•  Diseñar trazabilidad completa de decisiones</a:t>
            </a:r>
          </a:p>
          <a:p>
            <a:pPr>
              <a:spcBef>
                <a:spcPts val="400"/>
              </a:spcBef>
              <a:defRPr sz="1600">
                <a:solidFill>
                  <a:srgbClr val="E2E8F0"/>
                </a:solidFill>
              </a:defRPr>
            </a:pPr>
            <a:r>
              <a:t>•  Demostrar valor práctico en revisión temprana de historias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PARTE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La Arquitectura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063240"/>
            <a:ext cx="21031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La solución de un vistazo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371600"/>
            <a:ext cx="9418320" cy="64008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41732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0A5FA"/>
                </a:solidFill>
              </a:defRPr>
            </a:pPr>
            <a:r>
              <a:t>Historia de usuario  →  [Supervisor]  →  [Agentes]  →  Resultado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0515600" cy="685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23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</a:defRPr>
            </a:pPr>
            <a:r>
              <a:t>✦  Un supervisor orquesta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Lee la historia y decide qué especialistas consultar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10515600" cy="685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46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</a:defRPr>
            </a:pPr>
            <a:r>
              <a:t>✦  Cinco agentes especializados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Cada uno cubre una dimensión diferente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10515600" cy="685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</a:defRPr>
            </a:pPr>
            <a:r>
              <a:t>✦  No todos los agentes corren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Selección dinámica — objetivo central del diseño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20"/>
            <a:ext cx="10515600" cy="685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892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</a:defRPr>
            </a:pPr>
            <a:r>
              <a:t>✦  Dos proveedores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120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Amazon Bedrock (nube) y Ollama (local)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669280"/>
            <a:ext cx="10515600" cy="685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15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472B6"/>
                </a:solidFill>
              </a:defRPr>
            </a:pPr>
            <a:r>
              <a:t>✦  Todo queda registrado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6035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Log estructurado JSONL de cada decisión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El flujo paso a paso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645920"/>
            <a:ext cx="1737360" cy="4114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371600"/>
            <a:ext cx="640080" cy="64008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2860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0A5FA"/>
                </a:solidFill>
              </a:defRPr>
            </a:pPr>
            <a:r>
              <a:t>API recibe</a:t>
            </a:r>
            <a:br/>
            <a:r>
              <a:t>ReviewRequest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926080"/>
            <a:ext cx="1554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historia, proveedor,</a:t>
            </a:r>
            <a:br/>
            <a:r>
              <a:t>logging config</a:t>
            </a:r>
            <a:br/>
            <a:r>
              <a:t>→ log: request_received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79" y="1645920"/>
            <a:ext cx="1737360" cy="4114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88919" y="1371600"/>
            <a:ext cx="640080" cy="64008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19" y="22860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0A5FA"/>
                </a:solidFill>
              </a:defRPr>
            </a:pPr>
            <a:r>
              <a:t>Supervisor</a:t>
            </a:r>
            <a:br/>
            <a:r>
              <a:t>analiza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19" y="2926080"/>
            <a:ext cx="1554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supervisor_started</a:t>
            </a:r>
            <a:br/>
            <a:r>
              <a:t>→ inspecciona la</a:t>
            </a:r>
            <a:br/>
            <a:r>
              <a:t>historia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645920"/>
            <a:ext cx="1737360" cy="4114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54880" y="1371600"/>
            <a:ext cx="640080" cy="6400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2860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D399"/>
                </a:solidFill>
              </a:defRPr>
            </a:pPr>
            <a:r>
              <a:t>AgentSelection</a:t>
            </a:r>
            <a:br/>
            <a:r>
              <a:t>Rules.Select()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926080"/>
            <a:ext cx="1554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keywords en</a:t>
            </a:r>
            <a:br/>
            <a:r>
              <a:t>título+texto</a:t>
            </a:r>
            <a:br/>
            <a:r>
              <a:t>→ invoked[] + skipped[]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199" y="1645920"/>
            <a:ext cx="1737360" cy="4114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20839" y="1371600"/>
            <a:ext cx="640080" cy="64008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39" y="22860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Task.WhenAll</a:t>
            </a:r>
            <a:br/>
            <a:r>
              <a:t>agentes paralelo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39" y="2926080"/>
            <a:ext cx="1554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prompt + LLM call</a:t>
            </a:r>
            <a:br/>
            <a:r>
              <a:t>+ ParseResponse</a:t>
            </a:r>
            <a:br/>
            <a:r>
              <a:t>→ agent_completed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645920"/>
            <a:ext cx="1737360" cy="4114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0" y="1371600"/>
            <a:ext cx="640080" cy="6400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2860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87171"/>
                </a:solidFill>
              </a:defRPr>
            </a:pPr>
            <a:r>
              <a:t>ConflictResolver</a:t>
            </a:r>
            <a:br/>
            <a:r>
              <a:t>.Detect()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926080"/>
            <a:ext cx="1554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UX vs Técnico</a:t>
            </a:r>
            <a:br/>
            <a:r>
              <a:t>UX vs Compliance</a:t>
            </a:r>
            <a:br/>
            <a:r>
              <a:t>QA gap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04120" y="1645920"/>
            <a:ext cx="1737360" cy="4114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652760" y="1371600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5560" y="228600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78BFA"/>
                </a:solidFill>
              </a:defRPr>
            </a:pPr>
            <a:r>
              <a:t>Supervisor</a:t>
            </a:r>
            <a:br/>
            <a:r>
              <a:t>compone resultado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5560" y="2926080"/>
            <a:ext cx="1554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merge issues/recs</a:t>
            </a:r>
            <a:br/>
            <a:r>
              <a:t>DetermineStatus</a:t>
            </a:r>
            <a:br/>
            <a:r>
              <a:t>BuildSummary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Cada paso genera un evento en el log JSONL → trazabilidad completa de la ejecución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PARTE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Los Agentes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063240"/>
            <a:ext cx="21031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Selección dinámica de agentes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515600" cy="7315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13716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0A5FA"/>
                </a:solidFill>
              </a:defRPr>
            </a:pPr>
            <a:r>
              <a:t>clarity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6459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Siempre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23160"/>
            <a:ext cx="10515600" cy="7315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423160"/>
            <a:ext cx="13716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14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</a:defRPr>
            </a:pPr>
            <a:r>
              <a:t>qa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5146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validation · error · state · criteria · failure · expiration…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91839"/>
            <a:ext cx="10515600" cy="7315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291839"/>
            <a:ext cx="13716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38327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</a:defRPr>
            </a:pPr>
            <a:r>
              <a:t>technical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38327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retry · queue · integration · async · database · webhook…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60520"/>
            <a:ext cx="10515600" cy="7315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160520"/>
            <a:ext cx="13716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251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</a:defRPr>
            </a:pPr>
            <a:r>
              <a:t>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2519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screen · button · form · login · label · feedback…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029200"/>
            <a:ext cx="10515600" cy="73152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5029200"/>
            <a:ext cx="137160" cy="508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120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472B6"/>
                </a:solidFill>
              </a:defRPr>
            </a:pPr>
            <a:r>
              <a:t>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12064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personal data · audit · download · gdpr · encryption…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</a:defRPr>
            </a:pPr>
            <a:r>
              <a:t>Sin llamada al LLM para la selección — determinístico, costo cero, predecible en demo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Los cinco agentes especializados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554480"/>
            <a:ext cx="210312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554480"/>
            <a:ext cx="210312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82880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0A5FA"/>
                </a:solidFill>
              </a:defRPr>
            </a:pPr>
            <a:r>
              <a:t>ClarityAgent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219456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Claridad funcional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2560320"/>
            <a:ext cx="1874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Ambigüedades · reglas implícitas ·</a:t>
            </a:r>
            <a:br/>
            <a:r>
              <a:t>comportamientos no definidos</a:t>
            </a:r>
            <a:br/>
            <a:br/>
            <a:r>
              <a:t>"No se define qué pasa si</a:t>
            </a:r>
            <a:br/>
            <a:r>
              <a:t>el email no existe"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79" y="1554480"/>
            <a:ext cx="210312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7479" y="1554480"/>
            <a:ext cx="210312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7207" y="182880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</a:defRPr>
            </a:pPr>
            <a:r>
              <a:t>QaAgent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7207" y="219456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Testabilidad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7207" y="2560320"/>
            <a:ext cx="1874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Criterios de aceptación faltantes ·</a:t>
            </a:r>
            <a:br/>
            <a:r>
              <a:t>flujos de error no definidos</a:t>
            </a:r>
            <a:br/>
            <a:br/>
            <a:r>
              <a:t>"Faltan escenarios para</a:t>
            </a:r>
            <a:br/>
            <a:r>
              <a:t>intentos inválidos"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554480"/>
            <a:ext cx="210312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1554480"/>
            <a:ext cx="210312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8928" y="182880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</a:defRPr>
            </a:pPr>
            <a:r>
              <a:t>TechnicalAgent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928" y="219456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Impacto técnico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8" y="2560320"/>
            <a:ext cx="1874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Riesgos de arquitectura ·</a:t>
            </a:r>
            <a:br/>
            <a:r>
              <a:t>idempotencia · observabilidad</a:t>
            </a:r>
            <a:br/>
            <a:br/>
            <a:r>
              <a:t>"Se recomienda una cola para</a:t>
            </a:r>
            <a:br/>
            <a:r>
              <a:t>garantizar entrega única"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19" y="1554480"/>
            <a:ext cx="210312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60919" y="1554480"/>
            <a:ext cx="210312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70647" y="182880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</a:defRPr>
            </a:pPr>
            <a:r>
              <a:t>UxAgent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0647" y="219456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Experiencia de usuario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647" y="2560320"/>
            <a:ext cx="1874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Fricción · mensajes confusos ·</a:t>
            </a:r>
            <a:br/>
            <a:r>
              <a:t>feedback visual ausente</a:t>
            </a:r>
            <a:br/>
            <a:br/>
            <a:r>
              <a:t>"El mensaje no debería revelar</a:t>
            </a:r>
            <a:br/>
            <a:r>
              <a:t>si el email existe"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92640" y="1554480"/>
            <a:ext cx="2103120" cy="45720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92640" y="1554480"/>
            <a:ext cx="2103120" cy="508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02368" y="182880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472B6"/>
                </a:solidFill>
              </a:defRPr>
            </a:pPr>
            <a:r>
              <a:t>ComplianceAgent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02368" y="219456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Seguridad y privacidad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8" y="2560320"/>
            <a:ext cx="1874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Exposición de PII · autorización</a:t>
            </a:r>
            <a:br/>
            <a:r>
              <a:t>insuficiente · auditoría</a:t>
            </a:r>
            <a:br/>
            <a:br/>
            <a:r>
              <a:t>"La descarga requiere</a:t>
            </a:r>
            <a:br/>
            <a:r>
              <a:t>verificación de identidad"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PARTE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Decisiones Técnicas Clave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063240"/>
            <a:ext cx="21031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Ejecución en paralelo — Task.WhenAll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6400800" cy="201168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6035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</a:defRPr>
            </a:pPr>
            <a:r>
              <a:t>var agentTasks = selection.Invoked</a:t>
            </a:r>
            <a:br/>
            <a:r>
              <a:t>    .Select(async name =&gt; {</a:t>
            </a:r>
            <a:br/>
            <a:r>
              <a:t>        var result = await agent.ExecuteAsync(context, ct);</a:t>
            </a:r>
            <a:br/>
            <a:r>
              <a:t>        return result;</a:t>
            </a:r>
            <a:br/>
            <a:r>
              <a:t>    }).ToList();</a:t>
            </a:r>
            <a:br/>
            <a:br/>
            <a:r>
              <a:t>var results = await Task.WhenAll(agentTasks);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463040"/>
            <a:ext cx="3840480" cy="201168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554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¿Por qué paralelo?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201168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0">
                <a:solidFill>
                  <a:srgbClr val="E2E8F0"/>
                </a:solidFill>
              </a:defRPr>
            </a:pPr>
            <a:r>
              <a:t>•  Agentes son independientes</a:t>
            </a:r>
          </a:p>
          <a:p>
            <a:pPr>
              <a:spcBef>
                <a:spcPts val="400"/>
              </a:spcBef>
              <a:defRPr sz="1300">
                <a:solidFill>
                  <a:srgbClr val="E2E8F0"/>
                </a:solidFill>
              </a:defRPr>
            </a:pPr>
            <a:r>
              <a:t>•  No hay estado compartido</a:t>
            </a:r>
          </a:p>
          <a:p>
            <a:pPr>
              <a:spcBef>
                <a:spcPts val="400"/>
              </a:spcBef>
              <a:defRPr sz="1300">
                <a:solidFill>
                  <a:srgbClr val="E2E8F0"/>
                </a:solidFill>
              </a:defRPr>
            </a:pPr>
            <a:r>
              <a:t>•  5 agentes tardan lo mismo que 1</a:t>
            </a:r>
          </a:p>
          <a:p>
            <a:pPr>
              <a:spcBef>
                <a:spcPts val="400"/>
              </a:spcBef>
              <a:defRPr sz="1300">
                <a:solidFill>
                  <a:srgbClr val="E2E8F0"/>
                </a:solidFill>
              </a:defRPr>
            </a:pPr>
            <a:r>
              <a:t>•  Forzó separación limpia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Latencia comparada: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</a:defRPr>
            </a:pPr>
            <a:r>
              <a:t>Secuencial: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4297680"/>
            <a:ext cx="1371600" cy="457200"/>
          </a:xfrm>
          <a:prstGeom prst="round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 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45152" y="4297680"/>
            <a:ext cx="1828800" cy="45720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 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47104" y="4297680"/>
            <a:ext cx="1371600" cy="45720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 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4297680"/>
            <a:ext cx="1371600" cy="457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 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4297680"/>
            <a:ext cx="1371600" cy="4572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 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29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</a:defRPr>
            </a:pPr>
            <a:r>
              <a:t>Paralelo: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4937760"/>
            <a:ext cx="1371600" cy="256032"/>
          </a:xfrm>
          <a:prstGeom prst="round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 Clarity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5257800"/>
            <a:ext cx="1828800" cy="256032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 QA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5577840"/>
            <a:ext cx="1188720" cy="256032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 Technical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5897880"/>
            <a:ext cx="1371600" cy="256032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 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6217920"/>
            <a:ext cx="1645920" cy="256032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 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5212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</a:defRPr>
            </a:pPr>
            <a:r>
              <a:t>← total = agente más lento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Abstracción de proveedores LLM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64008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0A5FA"/>
                </a:solidFill>
              </a:defRPr>
            </a:pPr>
            <a:r>
              <a:t>Task&lt;ModelResponse&gt; GenerateAsync(ModelRequest request, CancellationToken ct);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0515600" cy="5486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4D399"/>
                </a:solidFill>
              </a:defRPr>
            </a:pPr>
            <a:r>
              <a:t>ModelRouter.Resolve("bedrock") → BedrockClient     |     ModelRouter.Resolve("ollama") → OllamaClient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91840"/>
            <a:ext cx="5029200" cy="27432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291840"/>
            <a:ext cx="502920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20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</a:defRPr>
            </a:pPr>
            <a:r>
              <a:t>Amazon Bedrock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77639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E2E8F0"/>
                </a:solidFill>
              </a:defRPr>
            </a:pPr>
            <a:r>
              <a:t>•  Auth: AWS credentials / IAM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Claude 3.5 Haiku · Sonnet · Nova · Llama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Demo: modelos enterprise, integración cloud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291840"/>
            <a:ext cx="4846320" cy="27432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3291840"/>
            <a:ext cx="484632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35204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D399"/>
                </a:solidFill>
              </a:defRPr>
            </a:pPr>
            <a:r>
              <a:t>Ollama (local)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977639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E2E8F0"/>
                </a:solidFill>
              </a:defRPr>
            </a:pPr>
            <a:r>
              <a:t>•  Auth: ninguna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Cualquier modelo local (qwen2.5:3b, llama3.1…)</a:t>
            </a:r>
          </a:p>
          <a:p>
            <a:pPr>
              <a:spcBef>
                <a:spcPts val="400"/>
              </a:spcBef>
              <a:defRPr sz="1400">
                <a:solidFill>
                  <a:srgbClr val="E2E8F0"/>
                </a:solidFill>
              </a:defRPr>
            </a:pPr>
            <a:r>
              <a:t>•  Demo: iteración rápida sin dependencia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</a:defRPr>
            </a:pPr>
            <a:r>
              <a:t>Los agentes y el supervisor no saben qué proveedor está activo. IModelClient es el único punto de acoplamiento.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Parsing defensivo de respuestas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</a:defRPr>
            </a:pPr>
            <a:r>
              <a:t>Los LLMs no siempre producen JSON limpio, aunque se los instruya.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560320" cy="1828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256032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</a:defRPr>
            </a:pPr>
            <a:r>
              <a:t>1. TryParseJson(raw)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517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Parse estricto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468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28800"/>
            <a:ext cx="2560320" cy="1828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828800"/>
            <a:ext cx="256032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</a:defRPr>
            </a:pPr>
            <a:r>
              <a:t>2. TryParseJson(RepairJson)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6517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Arregla comas, trailing</a:t>
            </a:r>
            <a:br/>
            <a:r>
              <a:t>commas, comillas sin escapar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468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828800"/>
            <a:ext cx="2560320" cy="1828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828800"/>
            <a:ext cx="256032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BF24"/>
                </a:solidFill>
              </a:defRPr>
            </a:pPr>
            <a:r>
              <a:t>3. TryParseJson(</a:t>
            </a:r>
            <a:br/>
            <a:r>
              <a:t>     TryCompleteJson)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517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Cierra brackets/braces</a:t>
            </a:r>
            <a:br/>
            <a:r>
              <a:t>abiertos — respuesta</a:t>
            </a:r>
            <a:br/>
            <a:r>
              <a:t>truncada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468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1828800"/>
            <a:ext cx="2560320" cy="1828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26880" y="1828800"/>
            <a:ext cx="256032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6404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78BFA"/>
                </a:solidFill>
              </a:defRPr>
            </a:pPr>
            <a:r>
              <a:t>4. Repair + Complete</a:t>
            </a:r>
            <a:br/>
            <a:r>
              <a:t>     combinados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0" y="26517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Ambas correcciones</a:t>
            </a:r>
            <a:br/>
            <a:r>
              <a:t>aplicadas juntas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23360"/>
            <a:ext cx="11064240" cy="914400"/>
          </a:xfrm>
          <a:prstGeom prst="round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69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→ fallback: status="parse_error"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34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F172A"/>
                </a:solidFill>
              </a:defRPr>
            </a:pPr>
            <a:r>
              <a:t>rawSummary = texto completo — sin crash, sin excepción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0A5FA"/>
                </a:solidFill>
              </a:defRPr>
            </a:pPr>
            <a:r>
              <a:t>Texto raw del LLM  →  parse estricto  →  repair  →  complete  →  repair+complete  →  fallback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PARTE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Lo que Aprendimos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063240"/>
            <a:ext cx="21031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Lo que aprendimos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515600" cy="5486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8988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</a:defRPr>
            </a:pPr>
            <a: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3898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</a:defRPr>
            </a:pPr>
            <a:r>
              <a:t>Keywords es suficiente para un POC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64592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Predecible · costo cero · para producción se puede upgradear a clasificación con LLM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29967"/>
            <a:ext cx="10515600" cy="5486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</a:defRPr>
            </a:pPr>
            <a: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04825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</a:defRPr>
            </a:pPr>
            <a:r>
              <a:t>El parsing defensivo es no negociable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304287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Modelos truncan · agregan fences · omiten brackets → RepairJson + TryCompleteJson desde día uno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88336"/>
            <a:ext cx="10515600" cy="5486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0662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</a:defRPr>
            </a:pPr>
            <a:r>
              <a:t>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7066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</a:defRPr>
            </a:pPr>
            <a:r>
              <a:t>maxTokens es un fallo silencioso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962656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Respuesta truncada se ve como normal — sin señal de error · siempre configurar MaxTokens explícito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46704"/>
            <a:ext cx="10515600" cy="5486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6499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</a:defRPr>
            </a:pPr>
            <a:r>
              <a:t>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364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</a:defRPr>
            </a:pPr>
            <a:r>
              <a:t>[FromBody] en tipos con 'required'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62102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Sin él, el framework tira InvalidOperationException en startup y deja todos los endpoints offline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005072"/>
            <a:ext cx="10515600" cy="5486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233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</a:defRPr>
            </a:pPr>
            <a:r>
              <a:t>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0233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</a:defRPr>
            </a:pPr>
            <a:r>
              <a:t>La abstracción de proveedor se paga de inmediato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27939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Cambiar de Ollama a Bedrock no requirió tocar ningún agente ni el supervisor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663440"/>
            <a:ext cx="10515600" cy="5486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8172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72B6"/>
                </a:solidFill>
              </a:defRPr>
            </a:pPr>
            <a:r>
              <a:t>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6817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72B6"/>
                </a:solidFill>
              </a:defRPr>
            </a:pPr>
            <a:r>
              <a:t>El diff semántico supera al diff exacto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9377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"Expiración del link" ≠ "regla de vencimiento" en string diff — pero son la misma preocupación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321808"/>
            <a:ext cx="10515600" cy="5486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34009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</a:defRPr>
            </a:pPr>
            <a:r>
              <a:t>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534009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</a:defRPr>
            </a:pPr>
            <a:r>
              <a:t>Prompts necesitan schema de output explícito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55961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Incluir nombres de propiedades + tipos + ejemplo → parse success rate dramáticamente mayor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980176"/>
            <a:ext cx="10515600" cy="54864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99846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</a:defRPr>
            </a:pPr>
            <a:r>
              <a:t>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59984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</a:defRPr>
            </a:pPr>
            <a:r>
              <a:t>Errores de cloud deben surfacearse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6254496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AWS lanza excepciones útiles → sin try/catch se convierten en 500 genéricos sin info accionable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PARTE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063240"/>
            <a:ext cx="21031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Demo Script — 10 minutos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554480"/>
            <a:ext cx="2103120" cy="475488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" y="1280160"/>
            <a:ext cx="640080" cy="64008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2103120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0A5FA"/>
                </a:solidFill>
              </a:defRPr>
            </a:pPr>
            <a:r>
              <a:t>Caso simple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2651760"/>
            <a:ext cx="187451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Provider: Ollama</a:t>
            </a:r>
            <a:br/>
            <a:r>
              <a:t>Mock: "Cambiar texto del botón"</a:t>
            </a:r>
            <a:br/>
            <a:br/>
            <a:r>
              <a:t>Solo clarity + ux</a:t>
            </a:r>
            <a:br/>
            <a:r>
              <a:t>qa/technical/compliance</a:t>
            </a:r>
            <a:br/>
            <a:r>
              <a:t>skipeados con razón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79" y="1554480"/>
            <a:ext cx="2103120" cy="475488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83279" y="1280160"/>
            <a:ext cx="640080" cy="6400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7207" y="2103120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4D399"/>
                </a:solidFill>
              </a:defRPr>
            </a:pPr>
            <a:r>
              <a:t>Historia funcional</a:t>
            </a:r>
            <a:br/>
            <a:r>
              <a:t>con 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7207" y="2651760"/>
            <a:ext cx="187451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Provider: Ollama</a:t>
            </a:r>
            <a:br/>
            <a:r>
              <a:t>Mock: "Resetear contraseña"</a:t>
            </a:r>
            <a:br/>
            <a:br/>
            <a:r>
              <a:t>clarity + qa + ux</a:t>
            </a:r>
            <a:br/>
            <a:r>
              <a:t>status yellow</a:t>
            </a:r>
            <a:br/>
            <a:r>
              <a:t>panel de issues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554480"/>
            <a:ext cx="2103120" cy="475488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15000" y="1280160"/>
            <a:ext cx="640080" cy="64008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928" y="2103120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t>Historia 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2651760"/>
            <a:ext cx="187451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Provider: Ollama</a:t>
            </a:r>
            <a:br/>
            <a:r>
              <a:t>Mock: "Retries automáticos"</a:t>
            </a:r>
            <a:br/>
            <a:br/>
            <a:r>
              <a:t>clarity + qa + technical</a:t>
            </a:r>
            <a:br/>
            <a:r>
              <a:t>ux skipeado</a:t>
            </a:r>
            <a:br/>
            <a:r>
              <a:t>idempotencia detectada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19" y="1554480"/>
            <a:ext cx="2103120" cy="475488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19" y="1280160"/>
            <a:ext cx="640080" cy="64008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0647" y="2103120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472B6"/>
                </a:solidFill>
              </a:defRPr>
            </a:pPr>
            <a:r>
              <a:t>Activación</a:t>
            </a:r>
            <a:br/>
            <a:r>
              <a:t>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70647" y="2651760"/>
            <a:ext cx="187451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Provider: Bedrock</a:t>
            </a:r>
            <a:br/>
            <a:r>
              <a:t>Mock: "Descarga datos</a:t>
            </a:r>
            <a:br/>
            <a:r>
              <a:t>personales"</a:t>
            </a:r>
            <a:br/>
            <a:br/>
            <a:r>
              <a:t>compliance activado</a:t>
            </a:r>
            <a:br/>
            <a:r>
              <a:t>status red</a:t>
            </a:r>
            <a:br/>
            <a:r>
              <a:t>distinto proveedor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1554480"/>
            <a:ext cx="2103120" cy="475488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1280160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8" y="2103120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A78BFA"/>
                </a:solidFill>
              </a:defRPr>
            </a:pPr>
            <a:r>
              <a:t>History +</a:t>
            </a:r>
            <a:br/>
            <a:r>
              <a:t>Semantic Compare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2368" y="2651760"/>
            <a:ext cx="187451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Provider: cualquiera</a:t>
            </a:r>
            <a:br/>
            <a:r>
              <a:t>Mock: historia ya corrida x2</a:t>
            </a:r>
            <a:br/>
            <a:br/>
            <a:r>
              <a:t>Tab History</a:t>
            </a:r>
            <a:br/>
            <a:r>
              <a:t>→ Tab Compare</a:t>
            </a:r>
            <a:br/>
            <a:r>
              <a:t>→ pares semánticos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PARTE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Resumen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063240"/>
            <a:ext cx="21031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¿Qué demuestra este POC?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685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0A5FA"/>
                </a:solidFill>
              </a:defRPr>
            </a:pPr>
            <a:r>
              <a:t>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508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</a:defRPr>
            </a:pPr>
            <a:r>
              <a:t>Selección dinámica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No todos los agentes corren siempre — con razones explícitas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10515600" cy="685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D399"/>
                </a:solidFill>
              </a:defRPr>
            </a:pPr>
            <a:r>
              <a:t>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31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</a:defRPr>
            </a:pPr>
            <a:r>
              <a:t>Especialización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51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Cada agente detecta su dimensión, no lo mismo con distinto nombre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08960"/>
            <a:ext cx="10515600" cy="685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1546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BBF24"/>
                </a:solidFill>
              </a:defRPr>
            </a:pPr>
            <a: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154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</a:defRPr>
            </a:pPr>
            <a:r>
              <a:t>Abstracción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747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Bedrock y Ollama intercambiables sin tocar lógica de negocio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31920"/>
            <a:ext cx="10515600" cy="685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776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78BFA"/>
                </a:solidFill>
              </a:defRPr>
            </a:pPr>
            <a: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776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</a:defRPr>
            </a:pPr>
            <a:r>
              <a:t>Trazabilidad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297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Cada decisión, prompt y respuesta queda en el log JSONL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754880"/>
            <a:ext cx="10515600" cy="685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8006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472B6"/>
                </a:solidFill>
              </a:defRPr>
            </a:pPr>
            <a: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800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472B6"/>
                </a:solidFill>
              </a:defRPr>
            </a:pPr>
            <a:r>
              <a:t>Resiliencia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1206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Parsing defensivo, fallbacks, status degradados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577840"/>
            <a:ext cx="10515600" cy="68580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6235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0A5FA"/>
                </a:solidFill>
              </a:defRPr>
            </a:pPr>
            <a: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623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</a:defRPr>
            </a:pPr>
            <a:r>
              <a:t>Comparación cross-model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9436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Diff semántico — no solo string-match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Stack técnico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5943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3716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3619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</a:defRPr>
            </a:pPr>
            <a:r>
              <a:t>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53619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</a:defRPr>
            </a:pPr>
            <a:r>
              <a:t>C# / .NET 9  —  Minimal APIs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76272"/>
            <a:ext cx="10515600" cy="5943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13716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24942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</a:defRPr>
            </a:pPr>
            <a:r>
              <a:t>Orquestación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4942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</a:defRPr>
            </a:pPr>
            <a:r>
              <a:t>ReviewSupervisor + Task.WhenAll en proceso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9504"/>
            <a:ext cx="10515600" cy="5943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9504"/>
            <a:ext cx="13716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6265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</a:defRPr>
            </a:pPr>
            <a:r>
              <a:t>Proveedores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962656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</a:defRPr>
            </a:pPr>
            <a:r>
              <a:t>Amazon Bedrock SDK  ·  Ollama HTTP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02736"/>
            <a:ext cx="10515600" cy="5943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602736"/>
            <a:ext cx="137160" cy="508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6758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</a:defRPr>
            </a:pPr>
            <a:r>
              <a:t>Persistencia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67588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</a:defRPr>
            </a:pPr>
            <a:r>
              <a:t>JSONL append-only — un archivo por ejecución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315968"/>
            <a:ext cx="10515600" cy="5943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4315968"/>
            <a:ext cx="137160" cy="508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389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472B6"/>
                </a:solidFill>
              </a:defRPr>
            </a:pPr>
            <a:r>
              <a:t>Frontend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389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</a:defRPr>
            </a:pPr>
            <a:r>
              <a:t>Angular 19 standalone  ·  Angular Material  ·  Signals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029200"/>
            <a:ext cx="10515600" cy="5943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5029200"/>
            <a:ext cx="137160" cy="508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5102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</a:defRPr>
            </a:pPr>
            <a:r>
              <a:t>Comunicación UI↔API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10235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</a:defRPr>
            </a:pPr>
            <a:r>
              <a:t>HTTP polling + REST endpoints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742431"/>
            <a:ext cx="10515600" cy="594360"/>
          </a:xfrm>
          <a:prstGeom prst="roundRect">
            <a:avLst/>
          </a:prstGeom>
          <a:solidFill>
            <a:srgbClr val="273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" y="5742431"/>
            <a:ext cx="137160" cy="50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15583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</a:defRPr>
            </a:pPr>
            <a:r>
              <a:t>Comparación semántica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815583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</a:defRPr>
            </a:pPr>
            <a:r>
              <a:t>LLM prompt engineering + JSON parsing defensivo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¿Preguntas?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2834640"/>
            <a:ext cx="21031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</a:defRPr>
            </a:pPr>
            <a:r>
              <a:t>MultiAgentLab — POC de revisión de user stories con arquitectura multi-agente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0A5FA"/>
                </a:solidFill>
              </a:defRPr>
            </a:pPr>
            <a:r>
              <a:t>Javier Calero  ·  Ariel Sisro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Endava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